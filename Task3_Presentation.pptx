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2" r:id="rId8"/>
    <p:sldId id="259" r:id="rId5"/>
    <p:sldId id="260" r:id="rId6"/>
    <p:sldId id="261" r:id="rId7"/>
    <p:sldId id="263" r:id="rId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04"/>
    <p:restoredTop sz="94617"/>
  </p:normalViewPr>
  <p:slideViewPr>
    <p:cSldViewPr snapToGrid="0" snapToObjects="1">
      <p:cViewPr varScale="1">
        <p:scale>
          <a:sx n="147" d="100"/>
          <a:sy n="147" d="100"/>
        </p:scale>
        <p:origin x="224" y="5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2.xml"/><Relationship Id="rId9" Type="http://schemas.openxmlformats.org/officeDocument/2006/relationships/slide" Target="slides/slide6.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2B55"/>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A5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0" y="228600"/>
            <a:ext cx="2377440" cy="365760"/>
          </a:xfrm>
          <a:prstGeom prst="rect">
            <a:avLst/>
          </a:prstGeom>
          <a:noFill/>
        </p:spPr>
        <p:txBody>
          <a:bodyPr wrap="square">
            <a:spAutoFit/>
          </a:bodyPr>
          <a:lstStyle/>
          <a:p>
            <a:pPr algn="r"/>
            <a:r>
              <a:rPr sz="1300" b="1" i="0">
                <a:solidFill>
                  <a:srgbClr val="D6E8F7"/>
                </a:solidFill>
              </a:rPr>
              <a:t>FAIRSCOPE</a:t>
            </a:r>
          </a:p>
        </p:txBody>
      </p:sp>
      <p:sp>
        <p:nvSpPr>
          <p:cNvPr id="4" name="TextBox 3"/>
          <p:cNvSpPr txBox="1"/>
          <p:nvPr/>
        </p:nvSpPr>
        <p:spPr>
          <a:xfrm>
            <a:off x="548640" y="1645920"/>
            <a:ext cx="10058400" cy="1097280"/>
          </a:xfrm>
          <a:prstGeom prst="rect">
            <a:avLst/>
          </a:prstGeom>
          <a:noFill/>
        </p:spPr>
        <p:txBody>
          <a:bodyPr wrap="square">
            <a:spAutoFit/>
          </a:bodyPr>
          <a:lstStyle/>
          <a:p>
            <a:pPr algn="l"/>
            <a:r>
              <a:rPr sz="5200" b="1" i="0">
                <a:solidFill>
                  <a:srgbClr val="FFFFFF"/>
                </a:solidFill>
              </a:rPr>
              <a:t>FairScope</a:t>
            </a:r>
          </a:p>
        </p:txBody>
      </p:sp>
      <p:sp>
        <p:nvSpPr>
          <p:cNvPr id="5" name="TextBox 4"/>
          <p:cNvSpPr txBox="1"/>
          <p:nvPr/>
        </p:nvSpPr>
        <p:spPr>
          <a:xfrm>
            <a:off x="548640" y="2743200"/>
            <a:ext cx="9144000" cy="502920"/>
          </a:xfrm>
          <a:prstGeom prst="rect">
            <a:avLst/>
          </a:prstGeom>
          <a:noFill/>
        </p:spPr>
        <p:txBody>
          <a:bodyPr wrap="square">
            <a:spAutoFit/>
          </a:bodyPr>
          <a:lstStyle/>
          <a:p>
            <a:pPr algn="l"/>
            <a:r>
              <a:rPr sz="2200" b="0" i="0">
                <a:solidFill>
                  <a:srgbClr val="D6E8F7"/>
                </a:solidFill>
              </a:rPr>
              <a:t>A Jurisdiction-Aware Fair Lending Compliance Tool</a:t>
            </a:r>
          </a:p>
        </p:txBody>
      </p:sp>
      <p:sp>
        <p:nvSpPr>
          <p:cNvPr id="6" name="Rectangle 5"/>
          <p:cNvSpPr/>
          <p:nvPr/>
        </p:nvSpPr>
        <p:spPr>
          <a:xfrm>
            <a:off x="548640" y="3337560"/>
            <a:ext cx="8229600" cy="25400"/>
          </a:xfrm>
          <a:prstGeom prst="rect">
            <a:avLst/>
          </a:prstGeom>
          <a:solidFill>
            <a:srgbClr val="1A5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3474720"/>
            <a:ext cx="10515600" cy="320040"/>
          </a:xfrm>
          <a:prstGeom prst="rect">
            <a:avLst/>
          </a:prstGeom>
          <a:noFill/>
        </p:spPr>
        <p:txBody>
          <a:bodyPr wrap="square">
            <a:spAutoFit/>
          </a:bodyPr>
          <a:lstStyle/>
          <a:p>
            <a:pPr algn="l"/>
            <a:r>
              <a:rPr sz="1200" b="0" i="0">
                <a:solidFill>
                  <a:srgbClr val="F4F7FB"/>
                </a:solidFill>
              </a:rPr>
              <a:t>Entity:        HSBC Holdings plc (US + UK operations)</a:t>
            </a:r>
          </a:p>
        </p:txBody>
      </p:sp>
      <p:sp>
        <p:nvSpPr>
          <p:cNvPr id="8" name="TextBox 7"/>
          <p:cNvSpPr txBox="1"/>
          <p:nvPr/>
        </p:nvSpPr>
        <p:spPr>
          <a:xfrm>
            <a:off x="548640" y="3803904"/>
            <a:ext cx="10515600" cy="320040"/>
          </a:xfrm>
          <a:prstGeom prst="rect">
            <a:avLst/>
          </a:prstGeom>
          <a:noFill/>
        </p:spPr>
        <p:txBody>
          <a:bodyPr wrap="square">
            <a:spAutoFit/>
          </a:bodyPr>
          <a:lstStyle/>
          <a:p>
            <a:pPr algn="l"/>
            <a:r>
              <a:rPr sz="1200" b="0" i="0">
                <a:solidFill>
                  <a:srgbClr val="F4F7FB"/>
                </a:solidFill>
              </a:rPr>
              <a:t>Domain:        Fair Lending / Algorithmic Fairness</a:t>
            </a:r>
          </a:p>
        </p:txBody>
      </p:sp>
      <p:sp>
        <p:nvSpPr>
          <p:cNvPr id="9" name="TextBox 8"/>
          <p:cNvSpPr txBox="1"/>
          <p:nvPr/>
        </p:nvSpPr>
        <p:spPr>
          <a:xfrm>
            <a:off x="548640" y="4133088"/>
            <a:ext cx="10515600" cy="276999"/>
          </a:xfrm>
          <a:prstGeom prst="rect">
            <a:avLst/>
          </a:prstGeom>
          <a:noFill/>
        </p:spPr>
        <p:txBody>
          <a:bodyPr wrap="square">
            <a:spAutoFit/>
          </a:bodyPr>
          <a:lstStyle/>
          <a:p>
            <a:r>
              <a:rPr sz="1200" b="0" i="0" dirty="0">
                <a:solidFill>
                  <a:srgbClr val="F4F7FB"/>
                </a:solidFill>
              </a:rPr>
              <a:t>Jurisdictions: US — CFPB Regulation B |  UK — FCA Consumer Duty</a:t>
            </a:r>
          </a:p>
        </p:txBody>
      </p:sp>
      <p:sp>
        <p:nvSpPr>
          <p:cNvPr id="10" name="TextBox 9"/>
          <p:cNvSpPr txBox="1"/>
          <p:nvPr/>
        </p:nvSpPr>
        <p:spPr>
          <a:xfrm>
            <a:off x="548640" y="4462272"/>
            <a:ext cx="10515600" cy="320040"/>
          </a:xfrm>
          <a:prstGeom prst="rect">
            <a:avLst/>
          </a:prstGeom>
          <a:noFill/>
        </p:spPr>
        <p:txBody>
          <a:bodyPr wrap="square">
            <a:spAutoFit/>
          </a:bodyPr>
          <a:lstStyle/>
          <a:p>
            <a:pPr algn="l"/>
            <a:endParaRPr/>
          </a:p>
        </p:txBody>
      </p:sp>
      <p:sp>
        <p:nvSpPr>
          <p:cNvPr id="11" name="TextBox 10"/>
          <p:cNvSpPr txBox="1"/>
          <p:nvPr/>
        </p:nvSpPr>
        <p:spPr>
          <a:xfrm>
            <a:off x="548640" y="4791456"/>
            <a:ext cx="10515600" cy="320040"/>
          </a:xfrm>
          <a:prstGeom prst="rect">
            <a:avLst/>
          </a:prstGeom>
          <a:noFill/>
        </p:spPr>
        <p:txBody>
          <a:bodyPr wrap="square">
            <a:spAutoFit/>
          </a:bodyPr>
          <a:lstStyle/>
          <a:p>
            <a:pPr algn="l"/>
            <a:r>
              <a:rPr sz="1200" b="0" i="0">
                <a:solidFill>
                  <a:srgbClr val="F4F7FB"/>
                </a:solidFill>
              </a:rPr>
              <a:t>Presented by:  Anandan Eruchamma Bhuvaneswari  |  G2506438A</a:t>
            </a:r>
          </a:p>
        </p:txBody>
      </p:sp>
      <p:sp>
        <p:nvSpPr>
          <p:cNvPr id="12" name="TextBox 11"/>
          <p:cNvSpPr txBox="1"/>
          <p:nvPr/>
        </p:nvSpPr>
        <p:spPr>
          <a:xfrm>
            <a:off x="548640" y="5120640"/>
            <a:ext cx="10515600" cy="320040"/>
          </a:xfrm>
          <a:prstGeom prst="rect">
            <a:avLst/>
          </a:prstGeom>
          <a:noFill/>
        </p:spPr>
        <p:txBody>
          <a:bodyPr wrap="square">
            <a:spAutoFit/>
          </a:bodyPr>
          <a:lstStyle/>
          <a:p>
            <a:pPr algn="l"/>
            <a:r>
              <a:rPr sz="1200" b="0" i="0">
                <a:solidFill>
                  <a:srgbClr val="F4F7FB"/>
                </a:solidFill>
              </a:rPr>
              <a:t>Course:        MH6822 Regulatory Technology  |  Option B — Architecture Design</a:t>
            </a:r>
          </a:p>
        </p:txBody>
      </p:sp>
      <p:sp>
        <p:nvSpPr>
          <p:cNvPr id="13" name="Rectangle 12"/>
          <p:cNvSpPr/>
          <p:nvPr/>
        </p:nvSpPr>
        <p:spPr>
          <a:xfrm>
            <a:off x="0" y="6583680"/>
            <a:ext cx="12188952" cy="2743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4320" y="6592824"/>
            <a:ext cx="11612880" cy="256032"/>
          </a:xfrm>
          <a:prstGeom prst="rect">
            <a:avLst/>
          </a:prstGeom>
          <a:noFill/>
        </p:spPr>
        <p:txBody>
          <a:bodyPr wrap="square">
            <a:spAutoFit/>
          </a:bodyPr>
          <a:lstStyle/>
          <a:p>
            <a:pPr algn="ctr"/>
            <a:r>
              <a:rPr sz="800" b="0" i="0">
                <a:solidFill>
                  <a:srgbClr val="D6E8F7"/>
                </a:solidFill>
              </a:rPr>
              <a:t>FairScope | MH6822 Assignment 1 | Anandan Eruchamma Bhuvaneswari | G2506438A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152"/>
            <a:ext cx="10972800" cy="548640"/>
          </a:xfrm>
          <a:prstGeom prst="rect">
            <a:avLst/>
          </a:prstGeom>
          <a:noFill/>
        </p:spPr>
        <p:txBody>
          <a:bodyPr wrap="square">
            <a:spAutoFit/>
          </a:bodyPr>
          <a:lstStyle/>
          <a:p>
            <a:pPr algn="l"/>
            <a:r>
              <a:rPr sz="2400" b="1" i="0">
                <a:solidFill>
                  <a:srgbClr val="FFFFFF"/>
                </a:solidFill>
              </a:rPr>
              <a:t>Why This Product Is Right for HSBC Now</a:t>
            </a:r>
          </a:p>
        </p:txBody>
      </p:sp>
      <p:sp>
        <p:nvSpPr>
          <p:cNvPr id="4" name="TextBox 3"/>
          <p:cNvSpPr txBox="1"/>
          <p:nvPr/>
        </p:nvSpPr>
        <p:spPr>
          <a:xfrm>
            <a:off x="320040" y="621792"/>
            <a:ext cx="10972800" cy="347472"/>
          </a:xfrm>
          <a:prstGeom prst="rect">
            <a:avLst/>
          </a:prstGeom>
          <a:noFill/>
        </p:spPr>
        <p:txBody>
          <a:bodyPr wrap="square">
            <a:spAutoFit/>
          </a:bodyPr>
          <a:lstStyle/>
          <a:p>
            <a:pPr algn="l"/>
            <a:r>
              <a:rPr sz="1200" b="0" i="1">
                <a:solidFill>
                  <a:srgbClr val="D6E8F7"/>
                </a:solidFill>
              </a:rPr>
              <a:t>Four reasons the timing and the fit are both right.</a:t>
            </a:r>
          </a:p>
        </p:txBody>
      </p:sp>
      <p:sp>
        <p:nvSpPr>
          <p:cNvPr id="5" name="Rectangle 4"/>
          <p:cNvSpPr/>
          <p:nvPr/>
        </p:nvSpPr>
        <p:spPr>
          <a:xfrm>
            <a:off x="256032" y="1170432"/>
            <a:ext cx="438912" cy="1143000"/>
          </a:xfrm>
          <a:prstGeom prst="rect">
            <a:avLst/>
          </a:prstGeom>
          <a:solidFill>
            <a:srgbClr val="1A5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6032" y="1444752"/>
            <a:ext cx="438912" cy="548640"/>
          </a:xfrm>
          <a:prstGeom prst="rect">
            <a:avLst/>
          </a:prstGeom>
          <a:noFill/>
        </p:spPr>
        <p:txBody>
          <a:bodyPr wrap="square">
            <a:spAutoFit/>
          </a:bodyPr>
          <a:lstStyle/>
          <a:p>
            <a:pPr algn="ctr"/>
            <a:r>
              <a:rPr sz="2200" b="1" i="0">
                <a:solidFill>
                  <a:srgbClr val="FFFFFF"/>
                </a:solidFill>
              </a:rPr>
              <a:t>1</a:t>
            </a:r>
          </a:p>
        </p:txBody>
      </p:sp>
      <p:sp>
        <p:nvSpPr>
          <p:cNvPr id="7" name="Rectangle 6"/>
          <p:cNvSpPr/>
          <p:nvPr/>
        </p:nvSpPr>
        <p:spPr>
          <a:xfrm>
            <a:off x="731520" y="1170432"/>
            <a:ext cx="11064240" cy="1143000"/>
          </a:xfrm>
          <a:prstGeom prst="rect">
            <a:avLst/>
          </a:prstGeom>
          <a:solidFill>
            <a:srgbClr val="FFFFFF"/>
          </a:solidFill>
          <a:ln w="9525">
            <a:solidFill>
              <a:srgbClr val="1A5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243584"/>
            <a:ext cx="10789920" cy="347472"/>
          </a:xfrm>
          <a:prstGeom prst="rect">
            <a:avLst/>
          </a:prstGeom>
          <a:noFill/>
        </p:spPr>
        <p:txBody>
          <a:bodyPr wrap="square">
            <a:spAutoFit/>
          </a:bodyPr>
          <a:lstStyle/>
          <a:p>
            <a:pPr algn="l"/>
            <a:r>
              <a:rPr sz="1300" b="1" i="0">
                <a:solidFill>
                  <a:srgbClr val="1A5EAA"/>
                </a:solidFill>
              </a:rPr>
              <a:t>The regulatory moment is right.</a:t>
            </a:r>
          </a:p>
        </p:txBody>
      </p:sp>
      <p:sp>
        <p:nvSpPr>
          <p:cNvPr id="9" name="TextBox 8"/>
          <p:cNvSpPr txBox="1"/>
          <p:nvPr/>
        </p:nvSpPr>
        <p:spPr>
          <a:xfrm>
            <a:off x="868680" y="1581912"/>
            <a:ext cx="10789920" cy="658368"/>
          </a:xfrm>
          <a:prstGeom prst="rect">
            <a:avLst/>
          </a:prstGeom>
          <a:noFill/>
        </p:spPr>
        <p:txBody>
          <a:bodyPr wrap="square">
            <a:spAutoFit/>
          </a:bodyPr>
          <a:lstStyle/>
          <a:p>
            <a:pPr algn="l"/>
            <a:r>
              <a:rPr sz="1050" b="0" i="0">
                <a:solidFill>
                  <a:srgbClr val="333333"/>
                </a:solidFill>
              </a:rPr>
              <a:t>The US Reg B rewrite (April 22, 2026) created a genuine compliance gap. Firms that built workflows around the old disparate impact standard need to adapt. FairScope's versioned config architecture handles this transition without retroactive reprocessing risk.</a:t>
            </a:r>
          </a:p>
        </p:txBody>
      </p:sp>
      <p:sp>
        <p:nvSpPr>
          <p:cNvPr id="10" name="Rectangle 9"/>
          <p:cNvSpPr/>
          <p:nvPr/>
        </p:nvSpPr>
        <p:spPr>
          <a:xfrm>
            <a:off x="256032" y="2386584"/>
            <a:ext cx="438912" cy="1143000"/>
          </a:xfrm>
          <a:prstGeom prst="rect">
            <a:avLst/>
          </a:prstGeom>
          <a:solidFill>
            <a:srgbClr val="1E7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6032" y="2660904"/>
            <a:ext cx="438912" cy="548640"/>
          </a:xfrm>
          <a:prstGeom prst="rect">
            <a:avLst/>
          </a:prstGeom>
          <a:noFill/>
        </p:spPr>
        <p:txBody>
          <a:bodyPr wrap="square">
            <a:spAutoFit/>
          </a:bodyPr>
          <a:lstStyle/>
          <a:p>
            <a:pPr algn="ctr"/>
            <a:r>
              <a:rPr sz="2200" b="1" i="0">
                <a:solidFill>
                  <a:srgbClr val="FFFFFF"/>
                </a:solidFill>
              </a:rPr>
              <a:t>2</a:t>
            </a:r>
          </a:p>
        </p:txBody>
      </p:sp>
      <p:sp>
        <p:nvSpPr>
          <p:cNvPr id="12" name="Rectangle 11"/>
          <p:cNvSpPr/>
          <p:nvPr/>
        </p:nvSpPr>
        <p:spPr>
          <a:xfrm>
            <a:off x="731520" y="2386584"/>
            <a:ext cx="11064240" cy="1143000"/>
          </a:xfrm>
          <a:prstGeom prst="rect">
            <a:avLst/>
          </a:prstGeom>
          <a:solidFill>
            <a:srgbClr val="FFFFFF"/>
          </a:solidFill>
          <a:ln w="9525">
            <a:solidFill>
              <a:srgbClr val="1E7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2459736"/>
            <a:ext cx="10789920" cy="347472"/>
          </a:xfrm>
          <a:prstGeom prst="rect">
            <a:avLst/>
          </a:prstGeom>
          <a:noFill/>
        </p:spPr>
        <p:txBody>
          <a:bodyPr wrap="square">
            <a:spAutoFit/>
          </a:bodyPr>
          <a:lstStyle/>
          <a:p>
            <a:pPr algn="l"/>
            <a:r>
              <a:rPr sz="1300" b="1" i="0">
                <a:solidFill>
                  <a:srgbClr val="1E7E45"/>
                </a:solidFill>
              </a:rPr>
              <a:t>FCA found most firms failing Consumer Duty.</a:t>
            </a:r>
          </a:p>
        </p:txBody>
      </p:sp>
      <p:sp>
        <p:nvSpPr>
          <p:cNvPr id="14" name="TextBox 13"/>
          <p:cNvSpPr txBox="1"/>
          <p:nvPr/>
        </p:nvSpPr>
        <p:spPr>
          <a:xfrm>
            <a:off x="868680" y="2798064"/>
            <a:ext cx="10789920" cy="658368"/>
          </a:xfrm>
          <a:prstGeom prst="rect">
            <a:avLst/>
          </a:prstGeom>
          <a:noFill/>
        </p:spPr>
        <p:txBody>
          <a:bodyPr wrap="square">
            <a:spAutoFit/>
          </a:bodyPr>
          <a:lstStyle/>
          <a:p>
            <a:pPr algn="l"/>
            <a:r>
              <a:rPr sz="1050" b="0" i="0">
                <a:solidFill>
                  <a:srgbClr val="333333"/>
                </a:solidFill>
              </a:rPr>
              <a:t>The FCA's Year 2 Consumer Duty Board Report found most firms failing on consumer understanding. HSBC's UK decline letters must meet the plain language standard. FairScope's UK template system is built around exactly what the FCA has said it expects.</a:t>
            </a:r>
          </a:p>
        </p:txBody>
      </p:sp>
      <p:sp>
        <p:nvSpPr>
          <p:cNvPr id="15" name="Rectangle 14"/>
          <p:cNvSpPr/>
          <p:nvPr/>
        </p:nvSpPr>
        <p:spPr>
          <a:xfrm>
            <a:off x="256032" y="3602736"/>
            <a:ext cx="438912" cy="11430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6032" y="3877056"/>
            <a:ext cx="438912" cy="548640"/>
          </a:xfrm>
          <a:prstGeom prst="rect">
            <a:avLst/>
          </a:prstGeom>
          <a:noFill/>
        </p:spPr>
        <p:txBody>
          <a:bodyPr wrap="square">
            <a:spAutoFit/>
          </a:bodyPr>
          <a:lstStyle/>
          <a:p>
            <a:pPr algn="ctr"/>
            <a:r>
              <a:rPr sz="2200" b="1" i="0">
                <a:solidFill>
                  <a:srgbClr val="FFFFFF"/>
                </a:solidFill>
              </a:rPr>
              <a:t>3</a:t>
            </a:r>
          </a:p>
        </p:txBody>
      </p:sp>
      <p:sp>
        <p:nvSpPr>
          <p:cNvPr id="17" name="Rectangle 16"/>
          <p:cNvSpPr/>
          <p:nvPr/>
        </p:nvSpPr>
        <p:spPr>
          <a:xfrm>
            <a:off x="731520" y="3602736"/>
            <a:ext cx="11064240" cy="1143000"/>
          </a:xfrm>
          <a:prstGeom prst="rect">
            <a:avLst/>
          </a:prstGeom>
          <a:solidFill>
            <a:srgbClr val="FFFFFF"/>
          </a:solidFill>
          <a:ln w="952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3675888"/>
            <a:ext cx="10789920" cy="347472"/>
          </a:xfrm>
          <a:prstGeom prst="rect">
            <a:avLst/>
          </a:prstGeom>
          <a:noFill/>
        </p:spPr>
        <p:txBody>
          <a:bodyPr wrap="square">
            <a:spAutoFit/>
          </a:bodyPr>
          <a:lstStyle/>
          <a:p>
            <a:pPr algn="l"/>
            <a:r>
              <a:rPr sz="1300" b="1" i="0">
                <a:solidFill>
                  <a:srgbClr val="E67E22"/>
                </a:solidFill>
              </a:rPr>
              <a:t>HSBC's scale makes manual monitoring dangerous.</a:t>
            </a:r>
          </a:p>
        </p:txBody>
      </p:sp>
      <p:sp>
        <p:nvSpPr>
          <p:cNvPr id="19" name="TextBox 18"/>
          <p:cNvSpPr txBox="1"/>
          <p:nvPr/>
        </p:nvSpPr>
        <p:spPr>
          <a:xfrm>
            <a:off x="868680" y="4014216"/>
            <a:ext cx="10789920" cy="658368"/>
          </a:xfrm>
          <a:prstGeom prst="rect">
            <a:avLst/>
          </a:prstGeom>
          <a:noFill/>
        </p:spPr>
        <p:txBody>
          <a:bodyPr wrap="square">
            <a:spAutoFit/>
          </a:bodyPr>
          <a:lstStyle/>
          <a:p>
            <a:pPr algn="l"/>
            <a:r>
              <a:rPr sz="1050" b="0" i="0">
                <a:solidFill>
                  <a:srgbClr val="333333"/>
                </a:solidFill>
              </a:rPr>
              <a:t>At HSBC's application volumes, a manual quarterly four-fifths calculation is an operational risk. One missed quarter. One miscalculation. One HMDA filing that conceals a disparity trend. FairScope runs continuously and alerts before a breach becomes a filing problem.</a:t>
            </a:r>
          </a:p>
        </p:txBody>
      </p:sp>
      <p:sp>
        <p:nvSpPr>
          <p:cNvPr id="20" name="Rectangle 19"/>
          <p:cNvSpPr/>
          <p:nvPr/>
        </p:nvSpPr>
        <p:spPr>
          <a:xfrm>
            <a:off x="256032" y="4818888"/>
            <a:ext cx="438912" cy="1143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56032" y="5093208"/>
            <a:ext cx="438912" cy="548640"/>
          </a:xfrm>
          <a:prstGeom prst="rect">
            <a:avLst/>
          </a:prstGeom>
          <a:noFill/>
        </p:spPr>
        <p:txBody>
          <a:bodyPr wrap="square">
            <a:spAutoFit/>
          </a:bodyPr>
          <a:lstStyle/>
          <a:p>
            <a:pPr algn="ctr"/>
            <a:r>
              <a:rPr sz="2200" b="1" i="0">
                <a:solidFill>
                  <a:srgbClr val="FFFFFF"/>
                </a:solidFill>
              </a:rPr>
              <a:t>4</a:t>
            </a:r>
          </a:p>
        </p:txBody>
      </p:sp>
      <p:sp>
        <p:nvSpPr>
          <p:cNvPr id="22" name="Rectangle 21"/>
          <p:cNvSpPr/>
          <p:nvPr/>
        </p:nvSpPr>
        <p:spPr>
          <a:xfrm>
            <a:off x="731520" y="4818888"/>
            <a:ext cx="11064240" cy="1143000"/>
          </a:xfrm>
          <a:prstGeom prst="rect">
            <a:avLst/>
          </a:prstGeom>
          <a:solidFill>
            <a:srgbClr val="FFFFFF"/>
          </a:solidFill>
          <a:ln w="9525">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8680" y="4892040"/>
            <a:ext cx="10789920" cy="347472"/>
          </a:xfrm>
          <a:prstGeom prst="rect">
            <a:avLst/>
          </a:prstGeom>
          <a:noFill/>
        </p:spPr>
        <p:txBody>
          <a:bodyPr wrap="square">
            <a:spAutoFit/>
          </a:bodyPr>
          <a:lstStyle/>
          <a:p>
            <a:pPr algn="l"/>
            <a:r>
              <a:rPr sz="1300" b="1" i="0">
                <a:solidFill>
                  <a:srgbClr val="0D2B55"/>
                </a:solidFill>
              </a:rPr>
              <a:t>The audit trail protects HSBC in an enforcement action.</a:t>
            </a:r>
          </a:p>
        </p:txBody>
      </p:sp>
      <p:sp>
        <p:nvSpPr>
          <p:cNvPr id="24" name="TextBox 23"/>
          <p:cNvSpPr txBox="1"/>
          <p:nvPr/>
        </p:nvSpPr>
        <p:spPr>
          <a:xfrm>
            <a:off x="868680" y="5230368"/>
            <a:ext cx="10789920" cy="658368"/>
          </a:xfrm>
          <a:prstGeom prst="rect">
            <a:avLst/>
          </a:prstGeom>
          <a:noFill/>
        </p:spPr>
        <p:txBody>
          <a:bodyPr wrap="square">
            <a:spAutoFit/>
          </a:bodyPr>
          <a:lstStyle/>
          <a:p>
            <a:pPr algn="l"/>
            <a:r>
              <a:rPr sz="1050" b="0" i="0">
                <a:solidFill>
                  <a:srgbClr val="333333"/>
                </a:solidFill>
              </a:rPr>
              <a:t>If a regulator examines a decision from 18 months ago, FairScope provides the decision record, the config version, the model version, the BISG probability vector, and a tamper-evident log. That answer is currently not available. FairScope makes it available.</a:t>
            </a:r>
          </a:p>
        </p:txBody>
      </p:sp>
      <p:sp>
        <p:nvSpPr>
          <p:cNvPr id="25" name="Rectangle 24"/>
          <p:cNvSpPr/>
          <p:nvPr/>
        </p:nvSpPr>
        <p:spPr>
          <a:xfrm>
            <a:off x="0" y="6583680"/>
            <a:ext cx="12188952" cy="2743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74320" y="6592824"/>
            <a:ext cx="11612880" cy="256032"/>
          </a:xfrm>
          <a:prstGeom prst="rect">
            <a:avLst/>
          </a:prstGeom>
          <a:noFill/>
        </p:spPr>
        <p:txBody>
          <a:bodyPr wrap="square">
            <a:spAutoFit/>
          </a:bodyPr>
          <a:lstStyle/>
          <a:p>
            <a:pPr algn="ctr"/>
            <a:r>
              <a:rPr sz="800" b="0" i="0">
                <a:solidFill>
                  <a:srgbClr val="D6E8F7"/>
                </a:solidFill>
              </a:rPr>
              <a:t>FairScope | MH6822 Assignment 1 | Anandan Eruchamma Bhuvaneswari | G2506438A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152"/>
            <a:ext cx="10972800" cy="548640"/>
          </a:xfrm>
          <a:prstGeom prst="rect">
            <a:avLst/>
          </a:prstGeom>
          <a:noFill/>
        </p:spPr>
        <p:txBody>
          <a:bodyPr wrap="square">
            <a:spAutoFit/>
          </a:bodyPr>
          <a:lstStyle/>
          <a:p>
            <a:pPr algn="l"/>
            <a:r>
              <a:rPr sz="2400" b="1" i="0">
                <a:solidFill>
                  <a:srgbClr val="FFFFFF"/>
                </a:solidFill>
              </a:rPr>
              <a:t>Why This Product Is Right for HSBC Now</a:t>
            </a:r>
          </a:p>
        </p:txBody>
      </p:sp>
      <p:sp>
        <p:nvSpPr>
          <p:cNvPr id="4" name="TextBox 3"/>
          <p:cNvSpPr txBox="1"/>
          <p:nvPr/>
        </p:nvSpPr>
        <p:spPr>
          <a:xfrm>
            <a:off x="320040" y="621792"/>
            <a:ext cx="10972800" cy="347472"/>
          </a:xfrm>
          <a:prstGeom prst="rect">
            <a:avLst/>
          </a:prstGeom>
          <a:noFill/>
        </p:spPr>
        <p:txBody>
          <a:bodyPr wrap="square">
            <a:spAutoFit/>
          </a:bodyPr>
          <a:lstStyle/>
          <a:p>
            <a:pPr algn="l"/>
            <a:r>
              <a:rPr sz="1200" b="0" i="1">
                <a:solidFill>
                  <a:srgbClr val="D6E8F7"/>
                </a:solidFill>
              </a:rPr>
              <a:t>Four reasons the timing and the fit are both right.</a:t>
            </a:r>
          </a:p>
        </p:txBody>
      </p:sp>
      <p:sp>
        <p:nvSpPr>
          <p:cNvPr id="5" name="Rectangle 4"/>
          <p:cNvSpPr/>
          <p:nvPr/>
        </p:nvSpPr>
        <p:spPr>
          <a:xfrm>
            <a:off x="256032" y="1170432"/>
            <a:ext cx="438912" cy="1143000"/>
          </a:xfrm>
          <a:prstGeom prst="rect">
            <a:avLst/>
          </a:prstGeom>
          <a:solidFill>
            <a:srgbClr val="1A5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6032" y="1444752"/>
            <a:ext cx="438912" cy="548640"/>
          </a:xfrm>
          <a:prstGeom prst="rect">
            <a:avLst/>
          </a:prstGeom>
          <a:noFill/>
        </p:spPr>
        <p:txBody>
          <a:bodyPr wrap="square">
            <a:spAutoFit/>
          </a:bodyPr>
          <a:lstStyle/>
          <a:p>
            <a:pPr algn="ctr"/>
            <a:r>
              <a:rPr sz="2200" b="1" i="0">
                <a:solidFill>
                  <a:srgbClr val="FFFFFF"/>
                </a:solidFill>
              </a:rPr>
              <a:t>1</a:t>
            </a:r>
          </a:p>
        </p:txBody>
      </p:sp>
      <p:sp>
        <p:nvSpPr>
          <p:cNvPr id="7" name="Rectangle 6"/>
          <p:cNvSpPr/>
          <p:nvPr/>
        </p:nvSpPr>
        <p:spPr>
          <a:xfrm>
            <a:off x="731520" y="1170432"/>
            <a:ext cx="11064240" cy="1143000"/>
          </a:xfrm>
          <a:prstGeom prst="rect">
            <a:avLst/>
          </a:prstGeom>
          <a:solidFill>
            <a:srgbClr val="FFFFFF"/>
          </a:solidFill>
          <a:ln w="9525">
            <a:solidFill>
              <a:srgbClr val="1A5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243584"/>
            <a:ext cx="10789920" cy="347472"/>
          </a:xfrm>
          <a:prstGeom prst="rect">
            <a:avLst/>
          </a:prstGeom>
          <a:noFill/>
        </p:spPr>
        <p:txBody>
          <a:bodyPr wrap="square">
            <a:spAutoFit/>
          </a:bodyPr>
          <a:lstStyle/>
          <a:p>
            <a:pPr algn="l"/>
            <a:r>
              <a:rPr sz="1300" b="1" i="0">
                <a:solidFill>
                  <a:srgbClr val="1A5EAA"/>
                </a:solidFill>
              </a:rPr>
              <a:t>The regulatory moment is right.</a:t>
            </a:r>
          </a:p>
        </p:txBody>
      </p:sp>
      <p:sp>
        <p:nvSpPr>
          <p:cNvPr id="9" name="TextBox 8"/>
          <p:cNvSpPr txBox="1"/>
          <p:nvPr/>
        </p:nvSpPr>
        <p:spPr>
          <a:xfrm>
            <a:off x="868680" y="1581912"/>
            <a:ext cx="10789920" cy="658368"/>
          </a:xfrm>
          <a:prstGeom prst="rect">
            <a:avLst/>
          </a:prstGeom>
          <a:noFill/>
        </p:spPr>
        <p:txBody>
          <a:bodyPr wrap="square">
            <a:spAutoFit/>
          </a:bodyPr>
          <a:lstStyle/>
          <a:p>
            <a:pPr algn="l"/>
            <a:r>
              <a:rPr sz="1050" b="0" i="0">
                <a:solidFill>
                  <a:srgbClr val="333333"/>
                </a:solidFill>
              </a:rPr>
              <a:t>The US Reg B rewrite (April 22, 2026) created a genuine compliance gap. Firms that built workflows around the old disparate impact standard need to adapt. FairScope's versioned config architecture handles this transition without retroactive reprocessing risk.</a:t>
            </a:r>
          </a:p>
        </p:txBody>
      </p:sp>
      <p:sp>
        <p:nvSpPr>
          <p:cNvPr id="10" name="Rectangle 9"/>
          <p:cNvSpPr/>
          <p:nvPr/>
        </p:nvSpPr>
        <p:spPr>
          <a:xfrm>
            <a:off x="256032" y="2386584"/>
            <a:ext cx="438912" cy="1143000"/>
          </a:xfrm>
          <a:prstGeom prst="rect">
            <a:avLst/>
          </a:prstGeom>
          <a:solidFill>
            <a:srgbClr val="1E7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6032" y="2660904"/>
            <a:ext cx="438912" cy="548640"/>
          </a:xfrm>
          <a:prstGeom prst="rect">
            <a:avLst/>
          </a:prstGeom>
          <a:noFill/>
        </p:spPr>
        <p:txBody>
          <a:bodyPr wrap="square">
            <a:spAutoFit/>
          </a:bodyPr>
          <a:lstStyle/>
          <a:p>
            <a:pPr algn="ctr"/>
            <a:r>
              <a:rPr sz="2200" b="1" i="0">
                <a:solidFill>
                  <a:srgbClr val="FFFFFF"/>
                </a:solidFill>
              </a:rPr>
              <a:t>2</a:t>
            </a:r>
          </a:p>
        </p:txBody>
      </p:sp>
      <p:sp>
        <p:nvSpPr>
          <p:cNvPr id="12" name="Rectangle 11"/>
          <p:cNvSpPr/>
          <p:nvPr/>
        </p:nvSpPr>
        <p:spPr>
          <a:xfrm>
            <a:off x="731520" y="2386584"/>
            <a:ext cx="11064240" cy="1143000"/>
          </a:xfrm>
          <a:prstGeom prst="rect">
            <a:avLst/>
          </a:prstGeom>
          <a:solidFill>
            <a:srgbClr val="FFFFFF"/>
          </a:solidFill>
          <a:ln w="9525">
            <a:solidFill>
              <a:srgbClr val="1E7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2459736"/>
            <a:ext cx="10789920" cy="347472"/>
          </a:xfrm>
          <a:prstGeom prst="rect">
            <a:avLst/>
          </a:prstGeom>
          <a:noFill/>
        </p:spPr>
        <p:txBody>
          <a:bodyPr wrap="square">
            <a:spAutoFit/>
          </a:bodyPr>
          <a:lstStyle/>
          <a:p>
            <a:pPr algn="l"/>
            <a:r>
              <a:rPr sz="1300" b="1" i="0">
                <a:solidFill>
                  <a:srgbClr val="1E7E45"/>
                </a:solidFill>
              </a:rPr>
              <a:t>FCA found most firms failing Consumer Duty.</a:t>
            </a:r>
          </a:p>
        </p:txBody>
      </p:sp>
      <p:sp>
        <p:nvSpPr>
          <p:cNvPr id="14" name="TextBox 13"/>
          <p:cNvSpPr txBox="1"/>
          <p:nvPr/>
        </p:nvSpPr>
        <p:spPr>
          <a:xfrm>
            <a:off x="868680" y="2798064"/>
            <a:ext cx="10789920" cy="658368"/>
          </a:xfrm>
          <a:prstGeom prst="rect">
            <a:avLst/>
          </a:prstGeom>
          <a:noFill/>
        </p:spPr>
        <p:txBody>
          <a:bodyPr wrap="square">
            <a:spAutoFit/>
          </a:bodyPr>
          <a:lstStyle/>
          <a:p>
            <a:pPr algn="l"/>
            <a:r>
              <a:rPr sz="1050" b="0" i="0">
                <a:solidFill>
                  <a:srgbClr val="333333"/>
                </a:solidFill>
              </a:rPr>
              <a:t>The FCA's Year 2 Consumer Duty Board Report found most firms failing on consumer understanding. HSBC's UK decline letters must meet the plain language standard. FairScope's UK template system is built around exactly what the FCA has said it expects.</a:t>
            </a:r>
          </a:p>
        </p:txBody>
      </p:sp>
      <p:sp>
        <p:nvSpPr>
          <p:cNvPr id="15" name="Rectangle 14"/>
          <p:cNvSpPr/>
          <p:nvPr/>
        </p:nvSpPr>
        <p:spPr>
          <a:xfrm>
            <a:off x="256032" y="3602736"/>
            <a:ext cx="438912" cy="11430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6032" y="3877056"/>
            <a:ext cx="438912" cy="548640"/>
          </a:xfrm>
          <a:prstGeom prst="rect">
            <a:avLst/>
          </a:prstGeom>
          <a:noFill/>
        </p:spPr>
        <p:txBody>
          <a:bodyPr wrap="square">
            <a:spAutoFit/>
          </a:bodyPr>
          <a:lstStyle/>
          <a:p>
            <a:pPr algn="ctr"/>
            <a:r>
              <a:rPr sz="2200" b="1" i="0">
                <a:solidFill>
                  <a:srgbClr val="FFFFFF"/>
                </a:solidFill>
              </a:rPr>
              <a:t>3</a:t>
            </a:r>
          </a:p>
        </p:txBody>
      </p:sp>
      <p:sp>
        <p:nvSpPr>
          <p:cNvPr id="17" name="Rectangle 16"/>
          <p:cNvSpPr/>
          <p:nvPr/>
        </p:nvSpPr>
        <p:spPr>
          <a:xfrm>
            <a:off x="731520" y="3602736"/>
            <a:ext cx="11064240" cy="1143000"/>
          </a:xfrm>
          <a:prstGeom prst="rect">
            <a:avLst/>
          </a:prstGeom>
          <a:solidFill>
            <a:srgbClr val="FFFFFF"/>
          </a:solidFill>
          <a:ln w="9525">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3675888"/>
            <a:ext cx="10789920" cy="347472"/>
          </a:xfrm>
          <a:prstGeom prst="rect">
            <a:avLst/>
          </a:prstGeom>
          <a:noFill/>
        </p:spPr>
        <p:txBody>
          <a:bodyPr wrap="square">
            <a:spAutoFit/>
          </a:bodyPr>
          <a:lstStyle/>
          <a:p>
            <a:pPr algn="l"/>
            <a:r>
              <a:rPr sz="1300" b="1" i="0">
                <a:solidFill>
                  <a:srgbClr val="E67E22"/>
                </a:solidFill>
              </a:rPr>
              <a:t>HSBC's scale makes manual monitoring dangerous.</a:t>
            </a:r>
          </a:p>
        </p:txBody>
      </p:sp>
      <p:sp>
        <p:nvSpPr>
          <p:cNvPr id="19" name="TextBox 18"/>
          <p:cNvSpPr txBox="1"/>
          <p:nvPr/>
        </p:nvSpPr>
        <p:spPr>
          <a:xfrm>
            <a:off x="868680" y="4014216"/>
            <a:ext cx="10789920" cy="658368"/>
          </a:xfrm>
          <a:prstGeom prst="rect">
            <a:avLst/>
          </a:prstGeom>
          <a:noFill/>
        </p:spPr>
        <p:txBody>
          <a:bodyPr wrap="square">
            <a:spAutoFit/>
          </a:bodyPr>
          <a:lstStyle/>
          <a:p>
            <a:pPr algn="l"/>
            <a:r>
              <a:rPr sz="1050" b="0" i="0">
                <a:solidFill>
                  <a:srgbClr val="333333"/>
                </a:solidFill>
              </a:rPr>
              <a:t>At HSBC's application volumes, a manual quarterly four-fifths calculation is an operational risk. One missed quarter. One miscalculation. One HMDA filing that conceals a disparity trend. FairScope runs continuously and alerts before a breach becomes a filing problem.</a:t>
            </a:r>
          </a:p>
        </p:txBody>
      </p:sp>
      <p:sp>
        <p:nvSpPr>
          <p:cNvPr id="20" name="Rectangle 19"/>
          <p:cNvSpPr/>
          <p:nvPr/>
        </p:nvSpPr>
        <p:spPr>
          <a:xfrm>
            <a:off x="256032" y="4818888"/>
            <a:ext cx="438912" cy="1143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56032" y="5093208"/>
            <a:ext cx="438912" cy="548640"/>
          </a:xfrm>
          <a:prstGeom prst="rect">
            <a:avLst/>
          </a:prstGeom>
          <a:noFill/>
        </p:spPr>
        <p:txBody>
          <a:bodyPr wrap="square">
            <a:spAutoFit/>
          </a:bodyPr>
          <a:lstStyle/>
          <a:p>
            <a:pPr algn="ctr"/>
            <a:r>
              <a:rPr sz="2200" b="1" i="0">
                <a:solidFill>
                  <a:srgbClr val="FFFFFF"/>
                </a:solidFill>
              </a:rPr>
              <a:t>4</a:t>
            </a:r>
          </a:p>
        </p:txBody>
      </p:sp>
      <p:sp>
        <p:nvSpPr>
          <p:cNvPr id="22" name="Rectangle 21"/>
          <p:cNvSpPr/>
          <p:nvPr/>
        </p:nvSpPr>
        <p:spPr>
          <a:xfrm>
            <a:off x="731520" y="4818888"/>
            <a:ext cx="11064240" cy="1143000"/>
          </a:xfrm>
          <a:prstGeom prst="rect">
            <a:avLst/>
          </a:prstGeom>
          <a:solidFill>
            <a:srgbClr val="FFFFFF"/>
          </a:solidFill>
          <a:ln w="9525">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8680" y="4892040"/>
            <a:ext cx="10789920" cy="347472"/>
          </a:xfrm>
          <a:prstGeom prst="rect">
            <a:avLst/>
          </a:prstGeom>
          <a:noFill/>
        </p:spPr>
        <p:txBody>
          <a:bodyPr wrap="square">
            <a:spAutoFit/>
          </a:bodyPr>
          <a:lstStyle/>
          <a:p>
            <a:pPr algn="l"/>
            <a:r>
              <a:rPr sz="1300" b="1" i="0">
                <a:solidFill>
                  <a:srgbClr val="0D2B55"/>
                </a:solidFill>
              </a:rPr>
              <a:t>The audit trail protects HSBC in an enforcement action.</a:t>
            </a:r>
          </a:p>
        </p:txBody>
      </p:sp>
      <p:sp>
        <p:nvSpPr>
          <p:cNvPr id="24" name="TextBox 23"/>
          <p:cNvSpPr txBox="1"/>
          <p:nvPr/>
        </p:nvSpPr>
        <p:spPr>
          <a:xfrm>
            <a:off x="868680" y="5230368"/>
            <a:ext cx="10789920" cy="658368"/>
          </a:xfrm>
          <a:prstGeom prst="rect">
            <a:avLst/>
          </a:prstGeom>
          <a:noFill/>
        </p:spPr>
        <p:txBody>
          <a:bodyPr wrap="square">
            <a:spAutoFit/>
          </a:bodyPr>
          <a:lstStyle/>
          <a:p>
            <a:pPr algn="l"/>
            <a:r>
              <a:rPr sz="1050" b="0" i="0">
                <a:solidFill>
                  <a:srgbClr val="333333"/>
                </a:solidFill>
              </a:rPr>
              <a:t>If a regulator examines a decision from 18 months ago, FairScope provides the decision record, the config version, the model version, the BISG probability vector, and a tamper-evident log. That answer is currently not available. FairScope makes it available.</a:t>
            </a:r>
          </a:p>
        </p:txBody>
      </p:sp>
      <p:sp>
        <p:nvSpPr>
          <p:cNvPr id="25" name="Rectangle 24"/>
          <p:cNvSpPr/>
          <p:nvPr/>
        </p:nvSpPr>
        <p:spPr>
          <a:xfrm>
            <a:off x="0" y="6583680"/>
            <a:ext cx="12188952" cy="2743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74320" y="6592824"/>
            <a:ext cx="11612880" cy="256032"/>
          </a:xfrm>
          <a:prstGeom prst="rect">
            <a:avLst/>
          </a:prstGeom>
          <a:noFill/>
        </p:spPr>
        <p:txBody>
          <a:bodyPr wrap="square">
            <a:spAutoFit/>
          </a:bodyPr>
          <a:lstStyle/>
          <a:p>
            <a:pPr algn="ctr"/>
            <a:r>
              <a:rPr sz="800" b="0" i="0">
                <a:solidFill>
                  <a:srgbClr val="D6E8F7"/>
                </a:solidFill>
              </a:rPr>
              <a:t>FairScope | MH6822 Assignment 1 | Anandan Eruchamma Bhuvaneswari | G2506438A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152"/>
            <a:ext cx="10972800" cy="548640"/>
          </a:xfrm>
          <a:prstGeom prst="rect">
            <a:avLst/>
          </a:prstGeom>
          <a:noFill/>
        </p:spPr>
        <p:txBody>
          <a:bodyPr wrap="square">
            <a:spAutoFit/>
          </a:bodyPr>
          <a:lstStyle/>
          <a:p>
            <a:pPr algn="l"/>
            <a:r>
              <a:rPr sz="2400" b="1" i="0">
                <a:solidFill>
                  <a:srgbClr val="FFFFFF"/>
                </a:solidFill>
              </a:rPr>
              <a:t>Why This Beats a Memo or a Spreadsheet</a:t>
            </a:r>
          </a:p>
        </p:txBody>
      </p:sp>
      <p:sp>
        <p:nvSpPr>
          <p:cNvPr id="4" name="TextBox 3"/>
          <p:cNvSpPr txBox="1"/>
          <p:nvPr/>
        </p:nvSpPr>
        <p:spPr>
          <a:xfrm>
            <a:off x="320040" y="621792"/>
            <a:ext cx="10972800" cy="347472"/>
          </a:xfrm>
          <a:prstGeom prst="rect">
            <a:avLst/>
          </a:prstGeom>
          <a:noFill/>
        </p:spPr>
        <p:txBody>
          <a:bodyPr wrap="square">
            <a:spAutoFit/>
          </a:bodyPr>
          <a:lstStyle/>
          <a:p>
            <a:pPr algn="l"/>
            <a:r>
              <a:rPr sz="1200" b="0" i="1">
                <a:solidFill>
                  <a:srgbClr val="D6E8F7"/>
                </a:solidFill>
              </a:rPr>
              <a:t>The specific capability no spreadsheet can replicate.</a:t>
            </a:r>
          </a:p>
        </p:txBody>
      </p:sp>
      <p:sp>
        <p:nvSpPr>
          <p:cNvPr id="5" name="Rectangle 4"/>
          <p:cNvSpPr/>
          <p:nvPr/>
        </p:nvSpPr>
        <p:spPr>
          <a:xfrm>
            <a:off x="274320" y="1143000"/>
            <a:ext cx="3283610" cy="420624"/>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9184" y="1197864"/>
            <a:ext cx="3192170" cy="329184"/>
          </a:xfrm>
          <a:prstGeom prst="rect">
            <a:avLst/>
          </a:prstGeom>
          <a:noFill/>
        </p:spPr>
        <p:txBody>
          <a:bodyPr wrap="square">
            <a:spAutoFit/>
          </a:bodyPr>
          <a:lstStyle/>
          <a:p>
            <a:pPr algn="ctr"/>
            <a:r>
              <a:rPr sz="1050" b="1" i="0">
                <a:solidFill>
                  <a:srgbClr val="FFFFFF"/>
                </a:solidFill>
              </a:rPr>
              <a:t>Capability</a:t>
            </a:r>
          </a:p>
        </p:txBody>
      </p:sp>
      <p:sp>
        <p:nvSpPr>
          <p:cNvPr id="7" name="Rectangle 6"/>
          <p:cNvSpPr/>
          <p:nvPr/>
        </p:nvSpPr>
        <p:spPr>
          <a:xfrm>
            <a:off x="3557930" y="1143000"/>
            <a:ext cx="4124675" cy="420624"/>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12794" y="1197864"/>
            <a:ext cx="4033235" cy="329184"/>
          </a:xfrm>
          <a:prstGeom prst="rect">
            <a:avLst/>
          </a:prstGeom>
          <a:noFill/>
        </p:spPr>
        <p:txBody>
          <a:bodyPr wrap="square">
            <a:spAutoFit/>
          </a:bodyPr>
          <a:lstStyle/>
          <a:p>
            <a:pPr algn="ctr"/>
            <a:r>
              <a:rPr sz="1050" b="1" i="0">
                <a:solidFill>
                  <a:srgbClr val="FFFFFF"/>
                </a:solidFill>
              </a:rPr>
              <a:t>Memo / Spreadsheet</a:t>
            </a:r>
          </a:p>
        </p:txBody>
      </p:sp>
      <p:sp>
        <p:nvSpPr>
          <p:cNvPr id="9" name="Rectangle 8"/>
          <p:cNvSpPr/>
          <p:nvPr/>
        </p:nvSpPr>
        <p:spPr>
          <a:xfrm>
            <a:off x="7682605" y="1143000"/>
            <a:ext cx="4113154" cy="420624"/>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37469" y="1197864"/>
            <a:ext cx="4021714" cy="329184"/>
          </a:xfrm>
          <a:prstGeom prst="rect">
            <a:avLst/>
          </a:prstGeom>
          <a:noFill/>
        </p:spPr>
        <p:txBody>
          <a:bodyPr wrap="square">
            <a:spAutoFit/>
          </a:bodyPr>
          <a:lstStyle/>
          <a:p>
            <a:pPr algn="ctr"/>
            <a:r>
              <a:rPr sz="1050" b="1" i="0">
                <a:solidFill>
                  <a:srgbClr val="FFFFFF"/>
                </a:solidFill>
              </a:rPr>
              <a:t>FairScope</a:t>
            </a:r>
          </a:p>
        </p:txBody>
      </p:sp>
      <p:sp>
        <p:nvSpPr>
          <p:cNvPr id="11" name="Rectangle 10"/>
          <p:cNvSpPr/>
          <p:nvPr/>
        </p:nvSpPr>
        <p:spPr>
          <a:xfrm>
            <a:off x="274320" y="1563624"/>
            <a:ext cx="3283610"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9184" y="1600200"/>
            <a:ext cx="3192170" cy="347472"/>
          </a:xfrm>
          <a:prstGeom prst="rect">
            <a:avLst/>
          </a:prstGeom>
          <a:noFill/>
        </p:spPr>
        <p:txBody>
          <a:bodyPr wrap="square">
            <a:spAutoFit/>
          </a:bodyPr>
          <a:lstStyle/>
          <a:p>
            <a:pPr algn="l"/>
            <a:r>
              <a:rPr sz="950" b="0" i="0">
                <a:solidFill>
                  <a:srgbClr val="333333"/>
                </a:solidFill>
              </a:rPr>
              <a:t>Jurisdiction-specific logic</a:t>
            </a:r>
          </a:p>
        </p:txBody>
      </p:sp>
      <p:sp>
        <p:nvSpPr>
          <p:cNvPr id="13" name="Rectangle 12"/>
          <p:cNvSpPr/>
          <p:nvPr/>
        </p:nvSpPr>
        <p:spPr>
          <a:xfrm>
            <a:off x="3557930" y="1563624"/>
            <a:ext cx="4124675"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12794" y="1600200"/>
            <a:ext cx="4033235" cy="347472"/>
          </a:xfrm>
          <a:prstGeom prst="rect">
            <a:avLst/>
          </a:prstGeom>
          <a:noFill/>
        </p:spPr>
        <p:txBody>
          <a:bodyPr wrap="square">
            <a:spAutoFit/>
          </a:bodyPr>
          <a:lstStyle/>
          <a:p>
            <a:pPr algn="l"/>
            <a:r>
              <a:rPr sz="950" b="0" i="0">
                <a:solidFill>
                  <a:srgbClr val="333333"/>
                </a:solidFill>
              </a:rPr>
              <a:t>Re-encoded by analyst every quarter</a:t>
            </a:r>
          </a:p>
        </p:txBody>
      </p:sp>
      <p:sp>
        <p:nvSpPr>
          <p:cNvPr id="15" name="Rectangle 14"/>
          <p:cNvSpPr/>
          <p:nvPr/>
        </p:nvSpPr>
        <p:spPr>
          <a:xfrm>
            <a:off x="7682605" y="1563624"/>
            <a:ext cx="4113154"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37469" y="1600200"/>
            <a:ext cx="4021714" cy="347472"/>
          </a:xfrm>
          <a:prstGeom prst="rect">
            <a:avLst/>
          </a:prstGeom>
          <a:noFill/>
        </p:spPr>
        <p:txBody>
          <a:bodyPr wrap="square">
            <a:spAutoFit/>
          </a:bodyPr>
          <a:lstStyle/>
          <a:p>
            <a:pPr algn="l"/>
            <a:r>
              <a:rPr sz="950" b="0" i="0">
                <a:solidFill>
                  <a:srgbClr val="333333"/>
                </a:solidFill>
              </a:rPr>
              <a:t>Stored in versioned config; automatically applied</a:t>
            </a:r>
          </a:p>
        </p:txBody>
      </p:sp>
      <p:sp>
        <p:nvSpPr>
          <p:cNvPr id="17" name="Rectangle 16"/>
          <p:cNvSpPr/>
          <p:nvPr/>
        </p:nvSpPr>
        <p:spPr>
          <a:xfrm>
            <a:off x="274320" y="1984248"/>
            <a:ext cx="3283610" cy="420624"/>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9184" y="2020824"/>
            <a:ext cx="3192170" cy="347472"/>
          </a:xfrm>
          <a:prstGeom prst="rect">
            <a:avLst/>
          </a:prstGeom>
          <a:noFill/>
        </p:spPr>
        <p:txBody>
          <a:bodyPr wrap="square">
            <a:spAutoFit/>
          </a:bodyPr>
          <a:lstStyle/>
          <a:p>
            <a:pPr algn="l"/>
            <a:r>
              <a:rPr sz="950" b="0" i="0">
                <a:solidFill>
                  <a:srgbClr val="333333"/>
                </a:solidFill>
              </a:rPr>
              <a:t>Config change tracking</a:t>
            </a:r>
          </a:p>
        </p:txBody>
      </p:sp>
      <p:sp>
        <p:nvSpPr>
          <p:cNvPr id="19" name="Rectangle 18"/>
          <p:cNvSpPr/>
          <p:nvPr/>
        </p:nvSpPr>
        <p:spPr>
          <a:xfrm>
            <a:off x="3557930" y="1984248"/>
            <a:ext cx="4124675" cy="420624"/>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12794" y="2020824"/>
            <a:ext cx="4033235" cy="347472"/>
          </a:xfrm>
          <a:prstGeom prst="rect">
            <a:avLst/>
          </a:prstGeom>
          <a:noFill/>
        </p:spPr>
        <p:txBody>
          <a:bodyPr wrap="square">
            <a:spAutoFit/>
          </a:bodyPr>
          <a:lstStyle/>
          <a:p>
            <a:pPr algn="l"/>
            <a:r>
              <a:rPr sz="950" b="0" i="0">
                <a:solidFill>
                  <a:srgbClr val="333333"/>
                </a:solidFill>
              </a:rPr>
              <a:t>Relies on file versioning and memory</a:t>
            </a:r>
          </a:p>
        </p:txBody>
      </p:sp>
      <p:sp>
        <p:nvSpPr>
          <p:cNvPr id="21" name="Rectangle 20"/>
          <p:cNvSpPr/>
          <p:nvPr/>
        </p:nvSpPr>
        <p:spPr>
          <a:xfrm>
            <a:off x="7682605" y="1984248"/>
            <a:ext cx="4113154" cy="420624"/>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37469" y="2020824"/>
            <a:ext cx="4021714" cy="347472"/>
          </a:xfrm>
          <a:prstGeom prst="rect">
            <a:avLst/>
          </a:prstGeom>
          <a:noFill/>
        </p:spPr>
        <p:txBody>
          <a:bodyPr wrap="square">
            <a:spAutoFit/>
          </a:bodyPr>
          <a:lstStyle/>
          <a:p>
            <a:pPr algn="l"/>
            <a:r>
              <a:rPr sz="950" b="0" i="0">
                <a:solidFill>
                  <a:srgbClr val="333333"/>
                </a:solidFill>
              </a:rPr>
              <a:t>Append-only records with SHA-256 hashes</a:t>
            </a:r>
          </a:p>
        </p:txBody>
      </p:sp>
      <p:sp>
        <p:nvSpPr>
          <p:cNvPr id="23" name="Rectangle 22"/>
          <p:cNvSpPr/>
          <p:nvPr/>
        </p:nvSpPr>
        <p:spPr>
          <a:xfrm>
            <a:off x="274320" y="2404872"/>
            <a:ext cx="3283610"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29184" y="2441448"/>
            <a:ext cx="3192170" cy="347472"/>
          </a:xfrm>
          <a:prstGeom prst="rect">
            <a:avLst/>
          </a:prstGeom>
          <a:noFill/>
        </p:spPr>
        <p:txBody>
          <a:bodyPr wrap="square">
            <a:spAutoFit/>
          </a:bodyPr>
          <a:lstStyle/>
          <a:p>
            <a:pPr algn="l"/>
            <a:r>
              <a:rPr sz="950" b="0" i="0">
                <a:solidFill>
                  <a:srgbClr val="333333"/>
                </a:solidFill>
              </a:rPr>
              <a:t>Audit trail</a:t>
            </a:r>
          </a:p>
        </p:txBody>
      </p:sp>
      <p:sp>
        <p:nvSpPr>
          <p:cNvPr id="25" name="Rectangle 24"/>
          <p:cNvSpPr/>
          <p:nvPr/>
        </p:nvSpPr>
        <p:spPr>
          <a:xfrm>
            <a:off x="3557930" y="2404872"/>
            <a:ext cx="4124675"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12794" y="2441448"/>
            <a:ext cx="4033235" cy="347472"/>
          </a:xfrm>
          <a:prstGeom prst="rect">
            <a:avLst/>
          </a:prstGeom>
          <a:noFill/>
        </p:spPr>
        <p:txBody>
          <a:bodyPr wrap="square">
            <a:spAutoFit/>
          </a:bodyPr>
          <a:lstStyle/>
          <a:p>
            <a:pPr algn="l"/>
            <a:r>
              <a:rPr sz="950" b="0" i="0">
                <a:solidFill>
                  <a:srgbClr val="333333"/>
                </a:solidFill>
              </a:rPr>
              <a:t>Retrospectively reconstructed</a:t>
            </a:r>
          </a:p>
        </p:txBody>
      </p:sp>
      <p:sp>
        <p:nvSpPr>
          <p:cNvPr id="27" name="Rectangle 26"/>
          <p:cNvSpPr/>
          <p:nvPr/>
        </p:nvSpPr>
        <p:spPr>
          <a:xfrm>
            <a:off x="7682605" y="2404872"/>
            <a:ext cx="4113154"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37469" y="2441448"/>
            <a:ext cx="4021714" cy="347472"/>
          </a:xfrm>
          <a:prstGeom prst="rect">
            <a:avLst/>
          </a:prstGeom>
          <a:noFill/>
        </p:spPr>
        <p:txBody>
          <a:bodyPr wrap="square">
            <a:spAutoFit/>
          </a:bodyPr>
          <a:lstStyle/>
          <a:p>
            <a:pPr algn="l"/>
            <a:r>
              <a:rPr sz="950" b="0" i="0">
                <a:solidFill>
                  <a:srgbClr val="333333"/>
                </a:solidFill>
              </a:rPr>
              <a:t>Real-time, immutable, decision-level</a:t>
            </a:r>
          </a:p>
        </p:txBody>
      </p:sp>
      <p:sp>
        <p:nvSpPr>
          <p:cNvPr id="29" name="Rectangle 28"/>
          <p:cNvSpPr/>
          <p:nvPr/>
        </p:nvSpPr>
        <p:spPr>
          <a:xfrm>
            <a:off x="274320" y="2825496"/>
            <a:ext cx="3283610" cy="420624"/>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9184" y="2862072"/>
            <a:ext cx="3192170" cy="347472"/>
          </a:xfrm>
          <a:prstGeom prst="rect">
            <a:avLst/>
          </a:prstGeom>
          <a:noFill/>
        </p:spPr>
        <p:txBody>
          <a:bodyPr wrap="square">
            <a:spAutoFit/>
          </a:bodyPr>
          <a:lstStyle/>
          <a:p>
            <a:pPr algn="l"/>
            <a:r>
              <a:rPr sz="950" b="0" i="0">
                <a:solidFill>
                  <a:srgbClr val="333333"/>
                </a:solidFill>
              </a:rPr>
              <a:t>Reg B adverse action notice</a:t>
            </a:r>
          </a:p>
        </p:txBody>
      </p:sp>
      <p:sp>
        <p:nvSpPr>
          <p:cNvPr id="31" name="Rectangle 30"/>
          <p:cNvSpPr/>
          <p:nvPr/>
        </p:nvSpPr>
        <p:spPr>
          <a:xfrm>
            <a:off x="3557930" y="2825496"/>
            <a:ext cx="4124675" cy="420624"/>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612794" y="2862072"/>
            <a:ext cx="4033235" cy="347472"/>
          </a:xfrm>
          <a:prstGeom prst="rect">
            <a:avLst/>
          </a:prstGeom>
          <a:noFill/>
        </p:spPr>
        <p:txBody>
          <a:bodyPr wrap="square">
            <a:spAutoFit/>
          </a:bodyPr>
          <a:lstStyle/>
          <a:p>
            <a:pPr algn="l"/>
            <a:r>
              <a:rPr sz="950" b="0" i="0">
                <a:solidFill>
                  <a:srgbClr val="333333"/>
                </a:solidFill>
              </a:rPr>
              <a:t>Manually drafted per denial</a:t>
            </a:r>
          </a:p>
        </p:txBody>
      </p:sp>
      <p:sp>
        <p:nvSpPr>
          <p:cNvPr id="33" name="Rectangle 32"/>
          <p:cNvSpPr/>
          <p:nvPr/>
        </p:nvSpPr>
        <p:spPr>
          <a:xfrm>
            <a:off x="7682605" y="2825496"/>
            <a:ext cx="4113154" cy="420624"/>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737469" y="2862072"/>
            <a:ext cx="4021714" cy="347472"/>
          </a:xfrm>
          <a:prstGeom prst="rect">
            <a:avLst/>
          </a:prstGeom>
          <a:noFill/>
        </p:spPr>
        <p:txBody>
          <a:bodyPr wrap="square">
            <a:spAutoFit/>
          </a:bodyPr>
          <a:lstStyle/>
          <a:p>
            <a:pPr algn="l"/>
            <a:r>
              <a:rPr sz="950" b="0" i="0">
                <a:solidFill>
                  <a:srgbClr val="333333"/>
                </a:solidFill>
              </a:rPr>
              <a:t>Auto-populated from pre-approved templates</a:t>
            </a:r>
          </a:p>
        </p:txBody>
      </p:sp>
      <p:sp>
        <p:nvSpPr>
          <p:cNvPr id="35" name="Rectangle 34"/>
          <p:cNvSpPr/>
          <p:nvPr/>
        </p:nvSpPr>
        <p:spPr>
          <a:xfrm>
            <a:off x="274320" y="3246120"/>
            <a:ext cx="3283610"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29184" y="3282696"/>
            <a:ext cx="3192170" cy="347472"/>
          </a:xfrm>
          <a:prstGeom prst="rect">
            <a:avLst/>
          </a:prstGeom>
          <a:noFill/>
        </p:spPr>
        <p:txBody>
          <a:bodyPr wrap="square">
            <a:spAutoFit/>
          </a:bodyPr>
          <a:lstStyle/>
          <a:p>
            <a:pPr algn="l"/>
            <a:r>
              <a:rPr sz="950" b="0" i="0">
                <a:solidFill>
                  <a:srgbClr val="333333"/>
                </a:solidFill>
              </a:rPr>
              <a:t>SHAP proxy detection</a:t>
            </a:r>
          </a:p>
        </p:txBody>
      </p:sp>
      <p:sp>
        <p:nvSpPr>
          <p:cNvPr id="37" name="Rectangle 36"/>
          <p:cNvSpPr/>
          <p:nvPr/>
        </p:nvSpPr>
        <p:spPr>
          <a:xfrm>
            <a:off x="3557930" y="3246120"/>
            <a:ext cx="4124675"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12794" y="3282696"/>
            <a:ext cx="4033235" cy="347472"/>
          </a:xfrm>
          <a:prstGeom prst="rect">
            <a:avLst/>
          </a:prstGeom>
          <a:noFill/>
        </p:spPr>
        <p:txBody>
          <a:bodyPr wrap="square">
            <a:spAutoFit/>
          </a:bodyPr>
          <a:lstStyle/>
          <a:p>
            <a:pPr algn="l"/>
            <a:r>
              <a:rPr sz="950" b="0" i="0">
                <a:solidFill>
                  <a:srgbClr val="333333"/>
                </a:solidFill>
              </a:rPr>
              <a:t>Not possible</a:t>
            </a:r>
          </a:p>
        </p:txBody>
      </p:sp>
      <p:sp>
        <p:nvSpPr>
          <p:cNvPr id="39" name="Rectangle 38"/>
          <p:cNvSpPr/>
          <p:nvPr/>
        </p:nvSpPr>
        <p:spPr>
          <a:xfrm>
            <a:off x="7682605" y="3246120"/>
            <a:ext cx="4113154"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737469" y="3282696"/>
            <a:ext cx="4021714" cy="347472"/>
          </a:xfrm>
          <a:prstGeom prst="rect">
            <a:avLst/>
          </a:prstGeom>
          <a:noFill/>
        </p:spPr>
        <p:txBody>
          <a:bodyPr wrap="square">
            <a:spAutoFit/>
          </a:bodyPr>
          <a:lstStyle/>
          <a:p>
            <a:pPr algn="l"/>
            <a:r>
              <a:rPr sz="950" b="0" i="0">
                <a:solidFill>
                  <a:srgbClr val="333333"/>
                </a:solidFill>
              </a:rPr>
              <a:t>Automated; alerts CCO when proxy variables emerge</a:t>
            </a:r>
          </a:p>
        </p:txBody>
      </p:sp>
      <p:sp>
        <p:nvSpPr>
          <p:cNvPr id="41" name="Rectangle 40"/>
          <p:cNvSpPr/>
          <p:nvPr/>
        </p:nvSpPr>
        <p:spPr>
          <a:xfrm>
            <a:off x="274320" y="3666744"/>
            <a:ext cx="3283610" cy="420624"/>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29184" y="3703320"/>
            <a:ext cx="3192170" cy="347472"/>
          </a:xfrm>
          <a:prstGeom prst="rect">
            <a:avLst/>
          </a:prstGeom>
          <a:noFill/>
        </p:spPr>
        <p:txBody>
          <a:bodyPr wrap="square">
            <a:spAutoFit/>
          </a:bodyPr>
          <a:lstStyle/>
          <a:p>
            <a:pPr algn="l"/>
            <a:r>
              <a:rPr sz="950" b="0" i="0">
                <a:solidFill>
                  <a:srgbClr val="333333"/>
                </a:solidFill>
              </a:rPr>
              <a:t>Four-fifths rule monitoring</a:t>
            </a:r>
          </a:p>
        </p:txBody>
      </p:sp>
      <p:sp>
        <p:nvSpPr>
          <p:cNvPr id="43" name="Rectangle 42"/>
          <p:cNvSpPr/>
          <p:nvPr/>
        </p:nvSpPr>
        <p:spPr>
          <a:xfrm>
            <a:off x="3557930" y="3666744"/>
            <a:ext cx="4124675" cy="420624"/>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612794" y="3703320"/>
            <a:ext cx="4033235" cy="347472"/>
          </a:xfrm>
          <a:prstGeom prst="rect">
            <a:avLst/>
          </a:prstGeom>
          <a:noFill/>
        </p:spPr>
        <p:txBody>
          <a:bodyPr wrap="square">
            <a:spAutoFit/>
          </a:bodyPr>
          <a:lstStyle/>
          <a:p>
            <a:pPr algn="l"/>
            <a:r>
              <a:rPr sz="950" b="0" i="0">
                <a:solidFill>
                  <a:srgbClr val="333333"/>
                </a:solidFill>
              </a:rPr>
              <a:t>Quarterly manual calculation</a:t>
            </a:r>
          </a:p>
        </p:txBody>
      </p:sp>
      <p:sp>
        <p:nvSpPr>
          <p:cNvPr id="45" name="Rectangle 44"/>
          <p:cNvSpPr/>
          <p:nvPr/>
        </p:nvSpPr>
        <p:spPr>
          <a:xfrm>
            <a:off x="7682605" y="3666744"/>
            <a:ext cx="4113154" cy="420624"/>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737469" y="3703320"/>
            <a:ext cx="4021714" cy="347472"/>
          </a:xfrm>
          <a:prstGeom prst="rect">
            <a:avLst/>
          </a:prstGeom>
          <a:noFill/>
        </p:spPr>
        <p:txBody>
          <a:bodyPr wrap="square">
            <a:spAutoFit/>
          </a:bodyPr>
          <a:lstStyle/>
          <a:p>
            <a:pPr algn="l"/>
            <a:r>
              <a:rPr sz="950" b="0" i="0">
                <a:solidFill>
                  <a:srgbClr val="333333"/>
                </a:solidFill>
              </a:rPr>
              <a:t>Rolling batch; alert generated automatically</a:t>
            </a:r>
          </a:p>
        </p:txBody>
      </p:sp>
      <p:sp>
        <p:nvSpPr>
          <p:cNvPr id="47" name="Rectangle 46"/>
          <p:cNvSpPr/>
          <p:nvPr/>
        </p:nvSpPr>
        <p:spPr>
          <a:xfrm>
            <a:off x="274320" y="4087368"/>
            <a:ext cx="3283610"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29184" y="4123944"/>
            <a:ext cx="3192170" cy="347472"/>
          </a:xfrm>
          <a:prstGeom prst="rect">
            <a:avLst/>
          </a:prstGeom>
          <a:noFill/>
        </p:spPr>
        <p:txBody>
          <a:bodyPr wrap="square">
            <a:spAutoFit/>
          </a:bodyPr>
          <a:lstStyle/>
          <a:p>
            <a:pPr algn="l"/>
            <a:r>
              <a:rPr sz="950" b="0" i="0">
                <a:solidFill>
                  <a:srgbClr val="333333"/>
                </a:solidFill>
              </a:rPr>
              <a:t>Response to regulatory change</a:t>
            </a:r>
          </a:p>
        </p:txBody>
      </p:sp>
      <p:sp>
        <p:nvSpPr>
          <p:cNvPr id="49" name="Rectangle 48"/>
          <p:cNvSpPr/>
          <p:nvPr/>
        </p:nvSpPr>
        <p:spPr>
          <a:xfrm>
            <a:off x="3557930" y="4087368"/>
            <a:ext cx="4124675"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612794" y="4123944"/>
            <a:ext cx="4033235" cy="347472"/>
          </a:xfrm>
          <a:prstGeom prst="rect">
            <a:avLst/>
          </a:prstGeom>
          <a:noFill/>
        </p:spPr>
        <p:txBody>
          <a:bodyPr wrap="square">
            <a:spAutoFit/>
          </a:bodyPr>
          <a:lstStyle/>
          <a:p>
            <a:pPr algn="l"/>
            <a:r>
              <a:rPr sz="950" b="0" i="0">
                <a:solidFill>
                  <a:srgbClr val="333333"/>
                </a:solidFill>
              </a:rPr>
              <a:t>Analyst rewrites spreadsheet</a:t>
            </a:r>
          </a:p>
        </p:txBody>
      </p:sp>
      <p:sp>
        <p:nvSpPr>
          <p:cNvPr id="51" name="Rectangle 50"/>
          <p:cNvSpPr/>
          <p:nvPr/>
        </p:nvSpPr>
        <p:spPr>
          <a:xfrm>
            <a:off x="7682605" y="4087368"/>
            <a:ext cx="4113154"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737469" y="4123944"/>
            <a:ext cx="4021714" cy="347472"/>
          </a:xfrm>
          <a:prstGeom prst="rect">
            <a:avLst/>
          </a:prstGeom>
          <a:noFill/>
        </p:spPr>
        <p:txBody>
          <a:bodyPr wrap="square">
            <a:spAutoFit/>
          </a:bodyPr>
          <a:lstStyle/>
          <a:p>
            <a:pPr algn="l"/>
            <a:r>
              <a:rPr sz="950" b="0" i="0">
                <a:solidFill>
                  <a:srgbClr val="333333"/>
                </a:solidFill>
              </a:rPr>
              <a:t>New config record; old decisions unchanged</a:t>
            </a:r>
          </a:p>
        </p:txBody>
      </p:sp>
      <p:sp>
        <p:nvSpPr>
          <p:cNvPr id="53" name="Rectangle 52"/>
          <p:cNvSpPr/>
          <p:nvPr/>
        </p:nvSpPr>
        <p:spPr>
          <a:xfrm>
            <a:off x="274320" y="5806440"/>
            <a:ext cx="11521440" cy="502920"/>
          </a:xfrm>
          <a:prstGeom prst="rect">
            <a:avLst/>
          </a:prstGeom>
          <a:solidFill>
            <a:srgbClr val="D6E8F7"/>
          </a:solidFill>
          <a:ln w="9525">
            <a:solidFill>
              <a:srgbClr val="1A5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11480" y="5861304"/>
            <a:ext cx="11155680" cy="402336"/>
          </a:xfrm>
          <a:prstGeom prst="rect">
            <a:avLst/>
          </a:prstGeom>
          <a:noFill/>
        </p:spPr>
        <p:txBody>
          <a:bodyPr wrap="square">
            <a:spAutoFit/>
          </a:bodyPr>
          <a:lstStyle/>
          <a:p>
            <a:pPr algn="l"/>
            <a:r>
              <a:rPr sz="1050" b="0" i="0">
                <a:solidFill>
                  <a:srgbClr val="0D2B55"/>
                </a:solidFill>
              </a:rPr>
              <a:t>Key point:  If a CFPB examiner asks in 2028 how HSBC assessed a loan in October 2025, FairScope shows the exact config version, fairness standard, model version, and BISG vector — tamper-evident. A spreadsheet cannot.</a:t>
            </a:r>
          </a:p>
        </p:txBody>
      </p:sp>
      <p:sp>
        <p:nvSpPr>
          <p:cNvPr id="55" name="Rectangle 54"/>
          <p:cNvSpPr/>
          <p:nvPr/>
        </p:nvSpPr>
        <p:spPr>
          <a:xfrm>
            <a:off x="0" y="6583680"/>
            <a:ext cx="12188952" cy="2743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74320" y="6592824"/>
            <a:ext cx="11612880" cy="256032"/>
          </a:xfrm>
          <a:prstGeom prst="rect">
            <a:avLst/>
          </a:prstGeom>
          <a:noFill/>
        </p:spPr>
        <p:txBody>
          <a:bodyPr wrap="square">
            <a:spAutoFit/>
          </a:bodyPr>
          <a:lstStyle/>
          <a:p>
            <a:pPr algn="ctr"/>
            <a:r>
              <a:rPr sz="800" b="0" i="0">
                <a:solidFill>
                  <a:srgbClr val="D6E8F7"/>
                </a:solidFill>
              </a:rPr>
              <a:t>FairScope | MH6822 Assignment 1 | Anandan Eruchamma Bhuvaneswari | G2506438A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152"/>
            <a:ext cx="10972800" cy="548640"/>
          </a:xfrm>
          <a:prstGeom prst="rect">
            <a:avLst/>
          </a:prstGeom>
          <a:noFill/>
        </p:spPr>
        <p:txBody>
          <a:bodyPr wrap="square">
            <a:spAutoFit/>
          </a:bodyPr>
          <a:lstStyle/>
          <a:p>
            <a:pPr algn="l"/>
            <a:r>
              <a:rPr sz="2400" b="1" i="0">
                <a:solidFill>
                  <a:srgbClr val="FFFFFF"/>
                </a:solidFill>
              </a:rPr>
              <a:t>Why This Beats a Memo or a Spreadsheet</a:t>
            </a:r>
          </a:p>
        </p:txBody>
      </p:sp>
      <p:sp>
        <p:nvSpPr>
          <p:cNvPr id="4" name="TextBox 3"/>
          <p:cNvSpPr txBox="1"/>
          <p:nvPr/>
        </p:nvSpPr>
        <p:spPr>
          <a:xfrm>
            <a:off x="320040" y="621792"/>
            <a:ext cx="10972800" cy="347472"/>
          </a:xfrm>
          <a:prstGeom prst="rect">
            <a:avLst/>
          </a:prstGeom>
          <a:noFill/>
        </p:spPr>
        <p:txBody>
          <a:bodyPr wrap="square">
            <a:spAutoFit/>
          </a:bodyPr>
          <a:lstStyle/>
          <a:p>
            <a:pPr algn="l"/>
            <a:r>
              <a:rPr sz="1200" b="0" i="1">
                <a:solidFill>
                  <a:srgbClr val="D6E8F7"/>
                </a:solidFill>
              </a:rPr>
              <a:t>The specific capability no spreadsheet can replicate.</a:t>
            </a:r>
          </a:p>
        </p:txBody>
      </p:sp>
      <p:sp>
        <p:nvSpPr>
          <p:cNvPr id="5" name="Rectangle 4"/>
          <p:cNvSpPr/>
          <p:nvPr/>
        </p:nvSpPr>
        <p:spPr>
          <a:xfrm>
            <a:off x="274320" y="1143000"/>
            <a:ext cx="3283610" cy="420624"/>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9184" y="1197864"/>
            <a:ext cx="3192170" cy="329184"/>
          </a:xfrm>
          <a:prstGeom prst="rect">
            <a:avLst/>
          </a:prstGeom>
          <a:noFill/>
        </p:spPr>
        <p:txBody>
          <a:bodyPr wrap="square">
            <a:spAutoFit/>
          </a:bodyPr>
          <a:lstStyle/>
          <a:p>
            <a:pPr algn="ctr"/>
            <a:r>
              <a:rPr sz="1050" b="1" i="0">
                <a:solidFill>
                  <a:srgbClr val="FFFFFF"/>
                </a:solidFill>
              </a:rPr>
              <a:t>Capability</a:t>
            </a:r>
          </a:p>
        </p:txBody>
      </p:sp>
      <p:sp>
        <p:nvSpPr>
          <p:cNvPr id="7" name="Rectangle 6"/>
          <p:cNvSpPr/>
          <p:nvPr/>
        </p:nvSpPr>
        <p:spPr>
          <a:xfrm>
            <a:off x="3557930" y="1143000"/>
            <a:ext cx="4124675" cy="420624"/>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12794" y="1197864"/>
            <a:ext cx="4033235" cy="329184"/>
          </a:xfrm>
          <a:prstGeom prst="rect">
            <a:avLst/>
          </a:prstGeom>
          <a:noFill/>
        </p:spPr>
        <p:txBody>
          <a:bodyPr wrap="square">
            <a:spAutoFit/>
          </a:bodyPr>
          <a:lstStyle/>
          <a:p>
            <a:pPr algn="ctr"/>
            <a:r>
              <a:rPr sz="1050" b="1" i="0">
                <a:solidFill>
                  <a:srgbClr val="FFFFFF"/>
                </a:solidFill>
              </a:rPr>
              <a:t>Memo / Spreadsheet</a:t>
            </a:r>
          </a:p>
        </p:txBody>
      </p:sp>
      <p:sp>
        <p:nvSpPr>
          <p:cNvPr id="9" name="Rectangle 8"/>
          <p:cNvSpPr/>
          <p:nvPr/>
        </p:nvSpPr>
        <p:spPr>
          <a:xfrm>
            <a:off x="7682605" y="1143000"/>
            <a:ext cx="4113154" cy="420624"/>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37469" y="1197864"/>
            <a:ext cx="4021714" cy="329184"/>
          </a:xfrm>
          <a:prstGeom prst="rect">
            <a:avLst/>
          </a:prstGeom>
          <a:noFill/>
        </p:spPr>
        <p:txBody>
          <a:bodyPr wrap="square">
            <a:spAutoFit/>
          </a:bodyPr>
          <a:lstStyle/>
          <a:p>
            <a:pPr algn="ctr"/>
            <a:r>
              <a:rPr sz="1050" b="1" i="0">
                <a:solidFill>
                  <a:srgbClr val="FFFFFF"/>
                </a:solidFill>
              </a:rPr>
              <a:t>FairScope</a:t>
            </a:r>
          </a:p>
        </p:txBody>
      </p:sp>
      <p:sp>
        <p:nvSpPr>
          <p:cNvPr id="11" name="Rectangle 10"/>
          <p:cNvSpPr/>
          <p:nvPr/>
        </p:nvSpPr>
        <p:spPr>
          <a:xfrm>
            <a:off x="274320" y="1563624"/>
            <a:ext cx="3283610"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9184" y="1600200"/>
            <a:ext cx="3192170" cy="347472"/>
          </a:xfrm>
          <a:prstGeom prst="rect">
            <a:avLst/>
          </a:prstGeom>
          <a:noFill/>
        </p:spPr>
        <p:txBody>
          <a:bodyPr wrap="square">
            <a:spAutoFit/>
          </a:bodyPr>
          <a:lstStyle/>
          <a:p>
            <a:pPr algn="l"/>
            <a:r>
              <a:rPr sz="950" b="0" i="0">
                <a:solidFill>
                  <a:srgbClr val="333333"/>
                </a:solidFill>
              </a:rPr>
              <a:t>Jurisdiction-specific logic</a:t>
            </a:r>
          </a:p>
        </p:txBody>
      </p:sp>
      <p:sp>
        <p:nvSpPr>
          <p:cNvPr id="13" name="Rectangle 12"/>
          <p:cNvSpPr/>
          <p:nvPr/>
        </p:nvSpPr>
        <p:spPr>
          <a:xfrm>
            <a:off x="3557930" y="1563624"/>
            <a:ext cx="4124675"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12794" y="1600200"/>
            <a:ext cx="4033235" cy="347472"/>
          </a:xfrm>
          <a:prstGeom prst="rect">
            <a:avLst/>
          </a:prstGeom>
          <a:noFill/>
        </p:spPr>
        <p:txBody>
          <a:bodyPr wrap="square">
            <a:spAutoFit/>
          </a:bodyPr>
          <a:lstStyle/>
          <a:p>
            <a:pPr algn="l"/>
            <a:r>
              <a:rPr sz="950" b="0" i="0">
                <a:solidFill>
                  <a:srgbClr val="333333"/>
                </a:solidFill>
              </a:rPr>
              <a:t>Re-encoded by analyst every quarter</a:t>
            </a:r>
          </a:p>
        </p:txBody>
      </p:sp>
      <p:sp>
        <p:nvSpPr>
          <p:cNvPr id="15" name="Rectangle 14"/>
          <p:cNvSpPr/>
          <p:nvPr/>
        </p:nvSpPr>
        <p:spPr>
          <a:xfrm>
            <a:off x="7682605" y="1563624"/>
            <a:ext cx="4113154"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37469" y="1600200"/>
            <a:ext cx="4021714" cy="347472"/>
          </a:xfrm>
          <a:prstGeom prst="rect">
            <a:avLst/>
          </a:prstGeom>
          <a:noFill/>
        </p:spPr>
        <p:txBody>
          <a:bodyPr wrap="square">
            <a:spAutoFit/>
          </a:bodyPr>
          <a:lstStyle/>
          <a:p>
            <a:pPr algn="l"/>
            <a:r>
              <a:rPr sz="950" b="0" i="0">
                <a:solidFill>
                  <a:srgbClr val="333333"/>
                </a:solidFill>
              </a:rPr>
              <a:t>Stored in versioned config; automatically applied</a:t>
            </a:r>
          </a:p>
        </p:txBody>
      </p:sp>
      <p:sp>
        <p:nvSpPr>
          <p:cNvPr id="17" name="Rectangle 16"/>
          <p:cNvSpPr/>
          <p:nvPr/>
        </p:nvSpPr>
        <p:spPr>
          <a:xfrm>
            <a:off x="274320" y="1984248"/>
            <a:ext cx="3283610" cy="420624"/>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9184" y="2020824"/>
            <a:ext cx="3192170" cy="347472"/>
          </a:xfrm>
          <a:prstGeom prst="rect">
            <a:avLst/>
          </a:prstGeom>
          <a:noFill/>
        </p:spPr>
        <p:txBody>
          <a:bodyPr wrap="square">
            <a:spAutoFit/>
          </a:bodyPr>
          <a:lstStyle/>
          <a:p>
            <a:pPr algn="l"/>
            <a:r>
              <a:rPr sz="950" b="0" i="0">
                <a:solidFill>
                  <a:srgbClr val="333333"/>
                </a:solidFill>
              </a:rPr>
              <a:t>Config change tracking</a:t>
            </a:r>
          </a:p>
        </p:txBody>
      </p:sp>
      <p:sp>
        <p:nvSpPr>
          <p:cNvPr id="19" name="Rectangle 18"/>
          <p:cNvSpPr/>
          <p:nvPr/>
        </p:nvSpPr>
        <p:spPr>
          <a:xfrm>
            <a:off x="3557930" y="1984248"/>
            <a:ext cx="4124675" cy="420624"/>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12794" y="2020824"/>
            <a:ext cx="4033235" cy="347472"/>
          </a:xfrm>
          <a:prstGeom prst="rect">
            <a:avLst/>
          </a:prstGeom>
          <a:noFill/>
        </p:spPr>
        <p:txBody>
          <a:bodyPr wrap="square">
            <a:spAutoFit/>
          </a:bodyPr>
          <a:lstStyle/>
          <a:p>
            <a:pPr algn="l"/>
            <a:r>
              <a:rPr sz="950" b="0" i="0">
                <a:solidFill>
                  <a:srgbClr val="333333"/>
                </a:solidFill>
              </a:rPr>
              <a:t>Relies on file versioning and memory</a:t>
            </a:r>
          </a:p>
        </p:txBody>
      </p:sp>
      <p:sp>
        <p:nvSpPr>
          <p:cNvPr id="21" name="Rectangle 20"/>
          <p:cNvSpPr/>
          <p:nvPr/>
        </p:nvSpPr>
        <p:spPr>
          <a:xfrm>
            <a:off x="7682605" y="1984248"/>
            <a:ext cx="4113154" cy="420624"/>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37469" y="2020824"/>
            <a:ext cx="4021714" cy="347472"/>
          </a:xfrm>
          <a:prstGeom prst="rect">
            <a:avLst/>
          </a:prstGeom>
          <a:noFill/>
        </p:spPr>
        <p:txBody>
          <a:bodyPr wrap="square">
            <a:spAutoFit/>
          </a:bodyPr>
          <a:lstStyle/>
          <a:p>
            <a:pPr algn="l"/>
            <a:r>
              <a:rPr sz="950" b="0" i="0">
                <a:solidFill>
                  <a:srgbClr val="333333"/>
                </a:solidFill>
              </a:rPr>
              <a:t>Append-only records with SHA-256 hashes</a:t>
            </a:r>
          </a:p>
        </p:txBody>
      </p:sp>
      <p:sp>
        <p:nvSpPr>
          <p:cNvPr id="23" name="Rectangle 22"/>
          <p:cNvSpPr/>
          <p:nvPr/>
        </p:nvSpPr>
        <p:spPr>
          <a:xfrm>
            <a:off x="274320" y="2404872"/>
            <a:ext cx="3283610"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29184" y="2441448"/>
            <a:ext cx="3192170" cy="347472"/>
          </a:xfrm>
          <a:prstGeom prst="rect">
            <a:avLst/>
          </a:prstGeom>
          <a:noFill/>
        </p:spPr>
        <p:txBody>
          <a:bodyPr wrap="square">
            <a:spAutoFit/>
          </a:bodyPr>
          <a:lstStyle/>
          <a:p>
            <a:pPr algn="l"/>
            <a:r>
              <a:rPr sz="950" b="0" i="0">
                <a:solidFill>
                  <a:srgbClr val="333333"/>
                </a:solidFill>
              </a:rPr>
              <a:t>Audit trail</a:t>
            </a:r>
          </a:p>
        </p:txBody>
      </p:sp>
      <p:sp>
        <p:nvSpPr>
          <p:cNvPr id="25" name="Rectangle 24"/>
          <p:cNvSpPr/>
          <p:nvPr/>
        </p:nvSpPr>
        <p:spPr>
          <a:xfrm>
            <a:off x="3557930" y="2404872"/>
            <a:ext cx="4124675"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12794" y="2441448"/>
            <a:ext cx="4033235" cy="347472"/>
          </a:xfrm>
          <a:prstGeom prst="rect">
            <a:avLst/>
          </a:prstGeom>
          <a:noFill/>
        </p:spPr>
        <p:txBody>
          <a:bodyPr wrap="square">
            <a:spAutoFit/>
          </a:bodyPr>
          <a:lstStyle/>
          <a:p>
            <a:pPr algn="l"/>
            <a:r>
              <a:rPr sz="950" b="0" i="0">
                <a:solidFill>
                  <a:srgbClr val="333333"/>
                </a:solidFill>
              </a:rPr>
              <a:t>Retrospectively reconstructed</a:t>
            </a:r>
          </a:p>
        </p:txBody>
      </p:sp>
      <p:sp>
        <p:nvSpPr>
          <p:cNvPr id="27" name="Rectangle 26"/>
          <p:cNvSpPr/>
          <p:nvPr/>
        </p:nvSpPr>
        <p:spPr>
          <a:xfrm>
            <a:off x="7682605" y="2404872"/>
            <a:ext cx="4113154"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37469" y="2441448"/>
            <a:ext cx="4021714" cy="347472"/>
          </a:xfrm>
          <a:prstGeom prst="rect">
            <a:avLst/>
          </a:prstGeom>
          <a:noFill/>
        </p:spPr>
        <p:txBody>
          <a:bodyPr wrap="square">
            <a:spAutoFit/>
          </a:bodyPr>
          <a:lstStyle/>
          <a:p>
            <a:pPr algn="l"/>
            <a:r>
              <a:rPr sz="950" b="0" i="0">
                <a:solidFill>
                  <a:srgbClr val="333333"/>
                </a:solidFill>
              </a:rPr>
              <a:t>Real-time, immutable, decision-level</a:t>
            </a:r>
          </a:p>
        </p:txBody>
      </p:sp>
      <p:sp>
        <p:nvSpPr>
          <p:cNvPr id="29" name="Rectangle 28"/>
          <p:cNvSpPr/>
          <p:nvPr/>
        </p:nvSpPr>
        <p:spPr>
          <a:xfrm>
            <a:off x="274320" y="2825496"/>
            <a:ext cx="3283610" cy="420624"/>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9184" y="2862072"/>
            <a:ext cx="3192170" cy="347472"/>
          </a:xfrm>
          <a:prstGeom prst="rect">
            <a:avLst/>
          </a:prstGeom>
          <a:noFill/>
        </p:spPr>
        <p:txBody>
          <a:bodyPr wrap="square">
            <a:spAutoFit/>
          </a:bodyPr>
          <a:lstStyle/>
          <a:p>
            <a:pPr algn="l"/>
            <a:r>
              <a:rPr sz="950" b="0" i="0">
                <a:solidFill>
                  <a:srgbClr val="333333"/>
                </a:solidFill>
              </a:rPr>
              <a:t>Reg B adverse action notice</a:t>
            </a:r>
          </a:p>
        </p:txBody>
      </p:sp>
      <p:sp>
        <p:nvSpPr>
          <p:cNvPr id="31" name="Rectangle 30"/>
          <p:cNvSpPr/>
          <p:nvPr/>
        </p:nvSpPr>
        <p:spPr>
          <a:xfrm>
            <a:off x="3557930" y="2825496"/>
            <a:ext cx="4124675" cy="420624"/>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612794" y="2862072"/>
            <a:ext cx="4033235" cy="347472"/>
          </a:xfrm>
          <a:prstGeom prst="rect">
            <a:avLst/>
          </a:prstGeom>
          <a:noFill/>
        </p:spPr>
        <p:txBody>
          <a:bodyPr wrap="square">
            <a:spAutoFit/>
          </a:bodyPr>
          <a:lstStyle/>
          <a:p>
            <a:pPr algn="l"/>
            <a:r>
              <a:rPr sz="950" b="0" i="0">
                <a:solidFill>
                  <a:srgbClr val="333333"/>
                </a:solidFill>
              </a:rPr>
              <a:t>Manually drafted per denial</a:t>
            </a:r>
          </a:p>
        </p:txBody>
      </p:sp>
      <p:sp>
        <p:nvSpPr>
          <p:cNvPr id="33" name="Rectangle 32"/>
          <p:cNvSpPr/>
          <p:nvPr/>
        </p:nvSpPr>
        <p:spPr>
          <a:xfrm>
            <a:off x="7682605" y="2825496"/>
            <a:ext cx="4113154" cy="420624"/>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737469" y="2862072"/>
            <a:ext cx="4021714" cy="347472"/>
          </a:xfrm>
          <a:prstGeom prst="rect">
            <a:avLst/>
          </a:prstGeom>
          <a:noFill/>
        </p:spPr>
        <p:txBody>
          <a:bodyPr wrap="square">
            <a:spAutoFit/>
          </a:bodyPr>
          <a:lstStyle/>
          <a:p>
            <a:pPr algn="l"/>
            <a:r>
              <a:rPr sz="950" b="0" i="0">
                <a:solidFill>
                  <a:srgbClr val="333333"/>
                </a:solidFill>
              </a:rPr>
              <a:t>Auto-populated from pre-approved templates</a:t>
            </a:r>
          </a:p>
        </p:txBody>
      </p:sp>
      <p:sp>
        <p:nvSpPr>
          <p:cNvPr id="35" name="Rectangle 34"/>
          <p:cNvSpPr/>
          <p:nvPr/>
        </p:nvSpPr>
        <p:spPr>
          <a:xfrm>
            <a:off x="274320" y="3246120"/>
            <a:ext cx="3283610"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29184" y="3282696"/>
            <a:ext cx="3192170" cy="347472"/>
          </a:xfrm>
          <a:prstGeom prst="rect">
            <a:avLst/>
          </a:prstGeom>
          <a:noFill/>
        </p:spPr>
        <p:txBody>
          <a:bodyPr wrap="square">
            <a:spAutoFit/>
          </a:bodyPr>
          <a:lstStyle/>
          <a:p>
            <a:pPr algn="l"/>
            <a:r>
              <a:rPr sz="950" b="0" i="0">
                <a:solidFill>
                  <a:srgbClr val="333333"/>
                </a:solidFill>
              </a:rPr>
              <a:t>SHAP proxy detection</a:t>
            </a:r>
          </a:p>
        </p:txBody>
      </p:sp>
      <p:sp>
        <p:nvSpPr>
          <p:cNvPr id="37" name="Rectangle 36"/>
          <p:cNvSpPr/>
          <p:nvPr/>
        </p:nvSpPr>
        <p:spPr>
          <a:xfrm>
            <a:off x="3557930" y="3246120"/>
            <a:ext cx="4124675"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12794" y="3282696"/>
            <a:ext cx="4033235" cy="347472"/>
          </a:xfrm>
          <a:prstGeom prst="rect">
            <a:avLst/>
          </a:prstGeom>
          <a:noFill/>
        </p:spPr>
        <p:txBody>
          <a:bodyPr wrap="square">
            <a:spAutoFit/>
          </a:bodyPr>
          <a:lstStyle/>
          <a:p>
            <a:pPr algn="l"/>
            <a:r>
              <a:rPr sz="950" b="0" i="0">
                <a:solidFill>
                  <a:srgbClr val="333333"/>
                </a:solidFill>
              </a:rPr>
              <a:t>Not possible</a:t>
            </a:r>
          </a:p>
        </p:txBody>
      </p:sp>
      <p:sp>
        <p:nvSpPr>
          <p:cNvPr id="39" name="Rectangle 38"/>
          <p:cNvSpPr/>
          <p:nvPr/>
        </p:nvSpPr>
        <p:spPr>
          <a:xfrm>
            <a:off x="7682605" y="3246120"/>
            <a:ext cx="4113154"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737469" y="3282696"/>
            <a:ext cx="4021714" cy="347472"/>
          </a:xfrm>
          <a:prstGeom prst="rect">
            <a:avLst/>
          </a:prstGeom>
          <a:noFill/>
        </p:spPr>
        <p:txBody>
          <a:bodyPr wrap="square">
            <a:spAutoFit/>
          </a:bodyPr>
          <a:lstStyle/>
          <a:p>
            <a:pPr algn="l"/>
            <a:r>
              <a:rPr sz="950" b="0" i="0">
                <a:solidFill>
                  <a:srgbClr val="333333"/>
                </a:solidFill>
              </a:rPr>
              <a:t>Automated; alerts CCO when proxy variables emerge</a:t>
            </a:r>
          </a:p>
        </p:txBody>
      </p:sp>
      <p:sp>
        <p:nvSpPr>
          <p:cNvPr id="41" name="Rectangle 40"/>
          <p:cNvSpPr/>
          <p:nvPr/>
        </p:nvSpPr>
        <p:spPr>
          <a:xfrm>
            <a:off x="274320" y="3666744"/>
            <a:ext cx="3283610" cy="420624"/>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29184" y="3703320"/>
            <a:ext cx="3192170" cy="347472"/>
          </a:xfrm>
          <a:prstGeom prst="rect">
            <a:avLst/>
          </a:prstGeom>
          <a:noFill/>
        </p:spPr>
        <p:txBody>
          <a:bodyPr wrap="square">
            <a:spAutoFit/>
          </a:bodyPr>
          <a:lstStyle/>
          <a:p>
            <a:pPr algn="l"/>
            <a:r>
              <a:rPr sz="950" b="0" i="0">
                <a:solidFill>
                  <a:srgbClr val="333333"/>
                </a:solidFill>
              </a:rPr>
              <a:t>Four-fifths rule monitoring</a:t>
            </a:r>
          </a:p>
        </p:txBody>
      </p:sp>
      <p:sp>
        <p:nvSpPr>
          <p:cNvPr id="43" name="Rectangle 42"/>
          <p:cNvSpPr/>
          <p:nvPr/>
        </p:nvSpPr>
        <p:spPr>
          <a:xfrm>
            <a:off x="3557930" y="3666744"/>
            <a:ext cx="4124675" cy="420624"/>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612794" y="3703320"/>
            <a:ext cx="4033235" cy="347472"/>
          </a:xfrm>
          <a:prstGeom prst="rect">
            <a:avLst/>
          </a:prstGeom>
          <a:noFill/>
        </p:spPr>
        <p:txBody>
          <a:bodyPr wrap="square">
            <a:spAutoFit/>
          </a:bodyPr>
          <a:lstStyle/>
          <a:p>
            <a:pPr algn="l"/>
            <a:r>
              <a:rPr sz="950" b="0" i="0">
                <a:solidFill>
                  <a:srgbClr val="333333"/>
                </a:solidFill>
              </a:rPr>
              <a:t>Quarterly manual calculation</a:t>
            </a:r>
          </a:p>
        </p:txBody>
      </p:sp>
      <p:sp>
        <p:nvSpPr>
          <p:cNvPr id="45" name="Rectangle 44"/>
          <p:cNvSpPr/>
          <p:nvPr/>
        </p:nvSpPr>
        <p:spPr>
          <a:xfrm>
            <a:off x="7682605" y="3666744"/>
            <a:ext cx="4113154" cy="420624"/>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737469" y="3703320"/>
            <a:ext cx="4021714" cy="347472"/>
          </a:xfrm>
          <a:prstGeom prst="rect">
            <a:avLst/>
          </a:prstGeom>
          <a:noFill/>
        </p:spPr>
        <p:txBody>
          <a:bodyPr wrap="square">
            <a:spAutoFit/>
          </a:bodyPr>
          <a:lstStyle/>
          <a:p>
            <a:pPr algn="l"/>
            <a:r>
              <a:rPr sz="950" b="0" i="0">
                <a:solidFill>
                  <a:srgbClr val="333333"/>
                </a:solidFill>
              </a:rPr>
              <a:t>Rolling batch; alert generated automatically</a:t>
            </a:r>
          </a:p>
        </p:txBody>
      </p:sp>
      <p:sp>
        <p:nvSpPr>
          <p:cNvPr id="47" name="Rectangle 46"/>
          <p:cNvSpPr/>
          <p:nvPr/>
        </p:nvSpPr>
        <p:spPr>
          <a:xfrm>
            <a:off x="274320" y="4087368"/>
            <a:ext cx="3283610"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29184" y="4123944"/>
            <a:ext cx="3192170" cy="347472"/>
          </a:xfrm>
          <a:prstGeom prst="rect">
            <a:avLst/>
          </a:prstGeom>
          <a:noFill/>
        </p:spPr>
        <p:txBody>
          <a:bodyPr wrap="square">
            <a:spAutoFit/>
          </a:bodyPr>
          <a:lstStyle/>
          <a:p>
            <a:pPr algn="l"/>
            <a:r>
              <a:rPr sz="950" b="0" i="0">
                <a:solidFill>
                  <a:srgbClr val="333333"/>
                </a:solidFill>
              </a:rPr>
              <a:t>Response to regulatory change</a:t>
            </a:r>
          </a:p>
        </p:txBody>
      </p:sp>
      <p:sp>
        <p:nvSpPr>
          <p:cNvPr id="49" name="Rectangle 48"/>
          <p:cNvSpPr/>
          <p:nvPr/>
        </p:nvSpPr>
        <p:spPr>
          <a:xfrm>
            <a:off x="3557930" y="4087368"/>
            <a:ext cx="4124675"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612794" y="4123944"/>
            <a:ext cx="4033235" cy="347472"/>
          </a:xfrm>
          <a:prstGeom prst="rect">
            <a:avLst/>
          </a:prstGeom>
          <a:noFill/>
        </p:spPr>
        <p:txBody>
          <a:bodyPr wrap="square">
            <a:spAutoFit/>
          </a:bodyPr>
          <a:lstStyle/>
          <a:p>
            <a:pPr algn="l"/>
            <a:r>
              <a:rPr sz="950" b="0" i="0">
                <a:solidFill>
                  <a:srgbClr val="333333"/>
                </a:solidFill>
              </a:rPr>
              <a:t>Analyst rewrites spreadsheet</a:t>
            </a:r>
          </a:p>
        </p:txBody>
      </p:sp>
      <p:sp>
        <p:nvSpPr>
          <p:cNvPr id="51" name="Rectangle 50"/>
          <p:cNvSpPr/>
          <p:nvPr/>
        </p:nvSpPr>
        <p:spPr>
          <a:xfrm>
            <a:off x="7682605" y="4087368"/>
            <a:ext cx="4113154" cy="42062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737469" y="4123944"/>
            <a:ext cx="4021714" cy="347472"/>
          </a:xfrm>
          <a:prstGeom prst="rect">
            <a:avLst/>
          </a:prstGeom>
          <a:noFill/>
        </p:spPr>
        <p:txBody>
          <a:bodyPr wrap="square">
            <a:spAutoFit/>
          </a:bodyPr>
          <a:lstStyle/>
          <a:p>
            <a:pPr algn="l"/>
            <a:r>
              <a:rPr sz="950" b="0" i="0">
                <a:solidFill>
                  <a:srgbClr val="333333"/>
                </a:solidFill>
              </a:rPr>
              <a:t>New config record; old decisions unchanged</a:t>
            </a:r>
          </a:p>
        </p:txBody>
      </p:sp>
      <p:sp>
        <p:nvSpPr>
          <p:cNvPr id="53" name="Rectangle 52"/>
          <p:cNvSpPr/>
          <p:nvPr/>
        </p:nvSpPr>
        <p:spPr>
          <a:xfrm>
            <a:off x="274320" y="5806440"/>
            <a:ext cx="11521440" cy="502920"/>
          </a:xfrm>
          <a:prstGeom prst="rect">
            <a:avLst/>
          </a:prstGeom>
          <a:solidFill>
            <a:srgbClr val="D6E8F7"/>
          </a:solidFill>
          <a:ln w="9525">
            <a:solidFill>
              <a:srgbClr val="1A5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11480" y="5861304"/>
            <a:ext cx="11155680" cy="402336"/>
          </a:xfrm>
          <a:prstGeom prst="rect">
            <a:avLst/>
          </a:prstGeom>
          <a:noFill/>
        </p:spPr>
        <p:txBody>
          <a:bodyPr wrap="square">
            <a:spAutoFit/>
          </a:bodyPr>
          <a:lstStyle/>
          <a:p>
            <a:pPr algn="l"/>
            <a:r>
              <a:rPr sz="1050" b="0" i="0">
                <a:solidFill>
                  <a:srgbClr val="0D2B55"/>
                </a:solidFill>
              </a:rPr>
              <a:t>Key point:  If a CFPB examiner asks in 2028 how HSBC assessed a loan in October 2025, FairScope shows the exact config version, fairness standard, model version, and BISG vector — tamper-evident. A spreadsheet cannot.</a:t>
            </a:r>
          </a:p>
        </p:txBody>
      </p:sp>
      <p:sp>
        <p:nvSpPr>
          <p:cNvPr id="55" name="Rectangle 54"/>
          <p:cNvSpPr/>
          <p:nvPr/>
        </p:nvSpPr>
        <p:spPr>
          <a:xfrm>
            <a:off x="0" y="6583680"/>
            <a:ext cx="12188952" cy="2743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74320" y="6592824"/>
            <a:ext cx="11612880" cy="256032"/>
          </a:xfrm>
          <a:prstGeom prst="rect">
            <a:avLst/>
          </a:prstGeom>
          <a:noFill/>
        </p:spPr>
        <p:txBody>
          <a:bodyPr wrap="square">
            <a:spAutoFit/>
          </a:bodyPr>
          <a:lstStyle/>
          <a:p>
            <a:pPr algn="ctr"/>
            <a:r>
              <a:rPr sz="800" b="0" i="0">
                <a:solidFill>
                  <a:srgbClr val="D6E8F7"/>
                </a:solidFill>
              </a:rPr>
              <a:t>FairScope | MH6822 Assignment 1 | Anandan Eruchamma Bhuvaneswari | G2506438A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152"/>
            <a:ext cx="10972800" cy="548640"/>
          </a:xfrm>
          <a:prstGeom prst="rect">
            <a:avLst/>
          </a:prstGeom>
          <a:noFill/>
        </p:spPr>
        <p:txBody>
          <a:bodyPr wrap="square">
            <a:spAutoFit/>
          </a:bodyPr>
          <a:lstStyle/>
          <a:p>
            <a:pPr algn="l"/>
            <a:r>
              <a:rPr sz="2400" b="1" i="0">
                <a:solidFill>
                  <a:srgbClr val="FFFFFF"/>
                </a:solidFill>
              </a:rPr>
              <a:t>The Regulatory Divergence FairScope Handles</a:t>
            </a:r>
          </a:p>
        </p:txBody>
      </p:sp>
      <p:sp>
        <p:nvSpPr>
          <p:cNvPr id="4" name="TextBox 3"/>
          <p:cNvSpPr txBox="1"/>
          <p:nvPr/>
        </p:nvSpPr>
        <p:spPr>
          <a:xfrm>
            <a:off x="320040" y="621792"/>
            <a:ext cx="10972800" cy="347472"/>
          </a:xfrm>
          <a:prstGeom prst="rect">
            <a:avLst/>
          </a:prstGeom>
          <a:noFill/>
        </p:spPr>
        <p:txBody>
          <a:bodyPr wrap="square">
            <a:spAutoFit/>
          </a:bodyPr>
          <a:lstStyle/>
          <a:p>
            <a:pPr algn="l"/>
            <a:r>
              <a:rPr sz="1200" b="0" i="1">
                <a:solidFill>
                  <a:srgbClr val="D6E8F7"/>
                </a:solidFill>
              </a:rPr>
              <a:t>Two concrete examples where the jurisdictions contradict each other.</a:t>
            </a:r>
          </a:p>
        </p:txBody>
      </p:sp>
      <p:sp>
        <p:nvSpPr>
          <p:cNvPr id="5" name="Rectangle 4"/>
          <p:cNvSpPr/>
          <p:nvPr/>
        </p:nvSpPr>
        <p:spPr>
          <a:xfrm>
            <a:off x="274320" y="1143000"/>
            <a:ext cx="11430000" cy="34747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1170432"/>
            <a:ext cx="10972800" cy="292608"/>
          </a:xfrm>
          <a:prstGeom prst="rect">
            <a:avLst/>
          </a:prstGeom>
          <a:noFill/>
        </p:spPr>
        <p:txBody>
          <a:bodyPr wrap="square">
            <a:spAutoFit/>
          </a:bodyPr>
          <a:lstStyle/>
          <a:p>
            <a:pPr algn="l"/>
            <a:r>
              <a:rPr sz="1300" b="1" i="0">
                <a:solidFill>
                  <a:srgbClr val="FFFFFF"/>
                </a:solidFill>
              </a:rPr>
              <a:t>Example 1 — Race Inference</a:t>
            </a:r>
          </a:p>
        </p:txBody>
      </p:sp>
      <p:sp>
        <p:nvSpPr>
          <p:cNvPr id="7" name="Rectangle 6"/>
          <p:cNvSpPr/>
          <p:nvPr/>
        </p:nvSpPr>
        <p:spPr>
          <a:xfrm>
            <a:off x="274320" y="1490472"/>
            <a:ext cx="3749039" cy="1645920"/>
          </a:xfrm>
          <a:prstGeom prst="rect">
            <a:avLst/>
          </a:prstGeom>
          <a:solidFill>
            <a:srgbClr val="FFFFFF"/>
          </a:solidFill>
          <a:ln w="9525">
            <a:solidFill>
              <a:srgbClr val="1A5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490472"/>
            <a:ext cx="3749039" cy="320040"/>
          </a:xfrm>
          <a:prstGeom prst="rect">
            <a:avLst/>
          </a:prstGeom>
          <a:solidFill>
            <a:srgbClr val="1A5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517904"/>
            <a:ext cx="3566160" cy="274320"/>
          </a:xfrm>
          <a:prstGeom prst="rect">
            <a:avLst/>
          </a:prstGeom>
          <a:noFill/>
        </p:spPr>
        <p:txBody>
          <a:bodyPr wrap="square">
            <a:spAutoFit/>
          </a:bodyPr>
          <a:lstStyle/>
          <a:p>
            <a:pPr algn="l"/>
            <a:r>
              <a:rPr sz="1100" b="1" i="0">
                <a:solidFill>
                  <a:srgbClr val="FFFFFF"/>
                </a:solidFill>
              </a:rPr>
              <a:t>US</a:t>
            </a:r>
          </a:p>
        </p:txBody>
      </p:sp>
      <p:sp>
        <p:nvSpPr>
          <p:cNvPr id="10" name="TextBox 9"/>
          <p:cNvSpPr txBox="1"/>
          <p:nvPr/>
        </p:nvSpPr>
        <p:spPr>
          <a:xfrm>
            <a:off x="365760" y="1847088"/>
            <a:ext cx="3566160" cy="1234440"/>
          </a:xfrm>
          <a:prstGeom prst="rect">
            <a:avLst/>
          </a:prstGeom>
          <a:noFill/>
        </p:spPr>
        <p:txBody>
          <a:bodyPr wrap="square">
            <a:spAutoFit/>
          </a:bodyPr>
          <a:lstStyle/>
          <a:p>
            <a:pPr algn="l"/>
            <a:r>
              <a:rPr sz="1000" b="0" i="0">
                <a:solidFill>
                  <a:srgbClr val="333333"/>
                </a:solidFill>
              </a:rPr>
              <a:t>CFPB encourages BISG (surname + zip code) for aggregate monitoring. HMDA requires race data collection.</a:t>
            </a:r>
          </a:p>
        </p:txBody>
      </p:sp>
      <p:sp>
        <p:nvSpPr>
          <p:cNvPr id="11" name="Rectangle 10"/>
          <p:cNvSpPr/>
          <p:nvPr/>
        </p:nvSpPr>
        <p:spPr>
          <a:xfrm>
            <a:off x="4087368" y="1490472"/>
            <a:ext cx="3749039" cy="1645920"/>
          </a:xfrm>
          <a:prstGeom prst="rect">
            <a:avLst/>
          </a:prstGeom>
          <a:solidFill>
            <a:srgbClr val="FFFFFF"/>
          </a:solidFill>
          <a:ln w="9525">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087368" y="1490472"/>
            <a:ext cx="3749039" cy="3200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78808" y="1517904"/>
            <a:ext cx="3566160" cy="274320"/>
          </a:xfrm>
          <a:prstGeom prst="rect">
            <a:avLst/>
          </a:prstGeom>
          <a:noFill/>
        </p:spPr>
        <p:txBody>
          <a:bodyPr wrap="square">
            <a:spAutoFit/>
          </a:bodyPr>
          <a:lstStyle/>
          <a:p>
            <a:pPr algn="l"/>
            <a:r>
              <a:rPr sz="1100" b="1" i="0">
                <a:solidFill>
                  <a:srgbClr val="FFFFFF"/>
                </a:solidFill>
              </a:rPr>
              <a:t>UK</a:t>
            </a:r>
          </a:p>
        </p:txBody>
      </p:sp>
      <p:sp>
        <p:nvSpPr>
          <p:cNvPr id="14" name="TextBox 13"/>
          <p:cNvSpPr txBox="1"/>
          <p:nvPr/>
        </p:nvSpPr>
        <p:spPr>
          <a:xfrm>
            <a:off x="4178808" y="1847088"/>
            <a:ext cx="3566160" cy="1234440"/>
          </a:xfrm>
          <a:prstGeom prst="rect">
            <a:avLst/>
          </a:prstGeom>
          <a:noFill/>
        </p:spPr>
        <p:txBody>
          <a:bodyPr wrap="square">
            <a:spAutoFit/>
          </a:bodyPr>
          <a:lstStyle/>
          <a:p>
            <a:pPr algn="l"/>
            <a:r>
              <a:rPr sz="1000" b="0" i="0">
                <a:solidFill>
                  <a:srgbClr val="333333"/>
                </a:solidFill>
              </a:rPr>
              <a:t>ICO guidance: inferring ethnic origin from name + postcode is likely special category data under GDPR Art. 9. No equivalent CFPB permission exists in the UK.</a:t>
            </a:r>
          </a:p>
        </p:txBody>
      </p:sp>
      <p:sp>
        <p:nvSpPr>
          <p:cNvPr id="15" name="Rectangle 14"/>
          <p:cNvSpPr/>
          <p:nvPr/>
        </p:nvSpPr>
        <p:spPr>
          <a:xfrm>
            <a:off x="7900416" y="1490472"/>
            <a:ext cx="3749039" cy="1645920"/>
          </a:xfrm>
          <a:prstGeom prst="rect">
            <a:avLst/>
          </a:prstGeom>
          <a:solidFill>
            <a:srgbClr val="FFFFFF"/>
          </a:solidFill>
          <a:ln w="9525">
            <a:solidFill>
              <a:srgbClr val="1E7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900416" y="1490472"/>
            <a:ext cx="3749039" cy="320040"/>
          </a:xfrm>
          <a:prstGeom prst="rect">
            <a:avLst/>
          </a:prstGeom>
          <a:solidFill>
            <a:srgbClr val="1E7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91856" y="1517904"/>
            <a:ext cx="3566160" cy="274320"/>
          </a:xfrm>
          <a:prstGeom prst="rect">
            <a:avLst/>
          </a:prstGeom>
          <a:noFill/>
        </p:spPr>
        <p:txBody>
          <a:bodyPr wrap="square">
            <a:spAutoFit/>
          </a:bodyPr>
          <a:lstStyle/>
          <a:p>
            <a:pPr algn="l"/>
            <a:r>
              <a:rPr sz="1100" b="1" i="0">
                <a:solidFill>
                  <a:srgbClr val="FFFFFF"/>
                </a:solidFill>
              </a:rPr>
              <a:t>FairScope Resolution</a:t>
            </a:r>
          </a:p>
        </p:txBody>
      </p:sp>
      <p:sp>
        <p:nvSpPr>
          <p:cNvPr id="18" name="TextBox 17"/>
          <p:cNvSpPr txBox="1"/>
          <p:nvPr/>
        </p:nvSpPr>
        <p:spPr>
          <a:xfrm>
            <a:off x="7991856" y="1847088"/>
            <a:ext cx="3566160" cy="1234440"/>
          </a:xfrm>
          <a:prstGeom prst="rect">
            <a:avLst/>
          </a:prstGeom>
          <a:noFill/>
        </p:spPr>
        <p:txBody>
          <a:bodyPr wrap="square">
            <a:spAutoFit/>
          </a:bodyPr>
          <a:lstStyle/>
          <a:p>
            <a:pPr algn="l"/>
            <a:r>
              <a:rPr sz="1000" b="0" i="0">
                <a:solidFill>
                  <a:srgbClr val="333333"/>
                </a:solidFill>
              </a:rPr>
              <a:t>US pipeline uses BISG for aggregate monitoring only — never individual decisions. UK pipeline does not call the BISG module at all. Enforced at architecture level, not a configuration flag.</a:t>
            </a:r>
          </a:p>
        </p:txBody>
      </p:sp>
      <p:sp>
        <p:nvSpPr>
          <p:cNvPr id="19" name="Rectangle 18"/>
          <p:cNvSpPr/>
          <p:nvPr/>
        </p:nvSpPr>
        <p:spPr>
          <a:xfrm>
            <a:off x="274320" y="3246120"/>
            <a:ext cx="11430000" cy="34747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3273552"/>
            <a:ext cx="10972800" cy="292608"/>
          </a:xfrm>
          <a:prstGeom prst="rect">
            <a:avLst/>
          </a:prstGeom>
          <a:noFill/>
        </p:spPr>
        <p:txBody>
          <a:bodyPr wrap="square">
            <a:spAutoFit/>
          </a:bodyPr>
          <a:lstStyle/>
          <a:p>
            <a:pPr algn="l"/>
            <a:r>
              <a:rPr sz="1300" b="1" i="0">
                <a:solidFill>
                  <a:srgbClr val="FFFFFF"/>
                </a:solidFill>
              </a:rPr>
              <a:t>Example 2 — Adverse Action Standard</a:t>
            </a:r>
          </a:p>
        </p:txBody>
      </p:sp>
      <p:sp>
        <p:nvSpPr>
          <p:cNvPr id="21" name="Rectangle 20"/>
          <p:cNvSpPr/>
          <p:nvPr/>
        </p:nvSpPr>
        <p:spPr>
          <a:xfrm>
            <a:off x="274320" y="3593592"/>
            <a:ext cx="3749039" cy="1920240"/>
          </a:xfrm>
          <a:prstGeom prst="rect">
            <a:avLst/>
          </a:prstGeom>
          <a:solidFill>
            <a:srgbClr val="FFFFFF"/>
          </a:solidFill>
          <a:ln w="9525">
            <a:solidFill>
              <a:srgbClr val="1A5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74320" y="3593592"/>
            <a:ext cx="3749039" cy="320040"/>
          </a:xfrm>
          <a:prstGeom prst="rect">
            <a:avLst/>
          </a:prstGeom>
          <a:solidFill>
            <a:srgbClr val="1A5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 y="3621024"/>
            <a:ext cx="3566160" cy="274320"/>
          </a:xfrm>
          <a:prstGeom prst="rect">
            <a:avLst/>
          </a:prstGeom>
          <a:noFill/>
        </p:spPr>
        <p:txBody>
          <a:bodyPr wrap="square">
            <a:spAutoFit/>
          </a:bodyPr>
          <a:lstStyle/>
          <a:p>
            <a:pPr algn="l"/>
            <a:r>
              <a:rPr sz="1100" b="1" i="0">
                <a:solidFill>
                  <a:srgbClr val="FFFFFF"/>
                </a:solidFill>
              </a:rPr>
              <a:t>US (post-2026)</a:t>
            </a:r>
          </a:p>
        </p:txBody>
      </p:sp>
      <p:sp>
        <p:nvSpPr>
          <p:cNvPr id="24" name="TextBox 23"/>
          <p:cNvSpPr txBox="1"/>
          <p:nvPr/>
        </p:nvSpPr>
        <p:spPr>
          <a:xfrm>
            <a:off x="365760" y="3950208"/>
            <a:ext cx="3566160" cy="1508760"/>
          </a:xfrm>
          <a:prstGeom prst="rect">
            <a:avLst/>
          </a:prstGeom>
          <a:noFill/>
        </p:spPr>
        <p:txBody>
          <a:bodyPr wrap="square">
            <a:spAutoFit/>
          </a:bodyPr>
          <a:lstStyle/>
          <a:p>
            <a:pPr algn="l"/>
            <a:r>
              <a:rPr sz="1000" b="0" i="0">
                <a:solidFill>
                  <a:srgbClr val="333333"/>
                </a:solidFill>
              </a:rPr>
              <a:t>Adverse action notice must state specific financial reasons. A generic 'credit score' satisfies Reg B. Intent is the key question.</a:t>
            </a:r>
          </a:p>
        </p:txBody>
      </p:sp>
      <p:sp>
        <p:nvSpPr>
          <p:cNvPr id="25" name="Rectangle 24"/>
          <p:cNvSpPr/>
          <p:nvPr/>
        </p:nvSpPr>
        <p:spPr>
          <a:xfrm>
            <a:off x="4087368" y="3593592"/>
            <a:ext cx="3749039" cy="1920240"/>
          </a:xfrm>
          <a:prstGeom prst="rect">
            <a:avLst/>
          </a:prstGeom>
          <a:solidFill>
            <a:srgbClr val="FFFFFF"/>
          </a:solidFill>
          <a:ln w="9525">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087368" y="3593592"/>
            <a:ext cx="3749039" cy="3200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78808" y="3621024"/>
            <a:ext cx="3566160" cy="274320"/>
          </a:xfrm>
          <a:prstGeom prst="rect">
            <a:avLst/>
          </a:prstGeom>
          <a:noFill/>
        </p:spPr>
        <p:txBody>
          <a:bodyPr wrap="square">
            <a:spAutoFit/>
          </a:bodyPr>
          <a:lstStyle/>
          <a:p>
            <a:pPr algn="l"/>
            <a:r>
              <a:rPr sz="1100" b="1" i="0">
                <a:solidFill>
                  <a:srgbClr val="FFFFFF"/>
                </a:solidFill>
              </a:rPr>
              <a:t>UK</a:t>
            </a:r>
          </a:p>
        </p:txBody>
      </p:sp>
      <p:sp>
        <p:nvSpPr>
          <p:cNvPr id="28" name="TextBox 27"/>
          <p:cNvSpPr txBox="1"/>
          <p:nvPr/>
        </p:nvSpPr>
        <p:spPr>
          <a:xfrm>
            <a:off x="4178808" y="3950208"/>
            <a:ext cx="3566160" cy="1508760"/>
          </a:xfrm>
          <a:prstGeom prst="rect">
            <a:avLst/>
          </a:prstGeom>
          <a:noFill/>
        </p:spPr>
        <p:txBody>
          <a:bodyPr wrap="square">
            <a:spAutoFit/>
          </a:bodyPr>
          <a:lstStyle/>
          <a:p>
            <a:pPr algn="l"/>
            <a:r>
              <a:rPr sz="1000" b="0" i="0">
                <a:solidFill>
                  <a:srgbClr val="333333"/>
                </a:solidFill>
              </a:rPr>
              <a:t>Consumer Duty plain language requirement: explanation must be genuinely understandable to the consumer. FCA multi-firm review found most firms failing this.</a:t>
            </a:r>
          </a:p>
        </p:txBody>
      </p:sp>
      <p:sp>
        <p:nvSpPr>
          <p:cNvPr id="29" name="Rectangle 28"/>
          <p:cNvSpPr/>
          <p:nvPr/>
        </p:nvSpPr>
        <p:spPr>
          <a:xfrm>
            <a:off x="7900416" y="3593592"/>
            <a:ext cx="3749039" cy="1920240"/>
          </a:xfrm>
          <a:prstGeom prst="rect">
            <a:avLst/>
          </a:prstGeom>
          <a:solidFill>
            <a:srgbClr val="FFFFFF"/>
          </a:solidFill>
          <a:ln w="9525">
            <a:solidFill>
              <a:srgbClr val="1E7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900416" y="3593592"/>
            <a:ext cx="3749039" cy="320040"/>
          </a:xfrm>
          <a:prstGeom prst="rect">
            <a:avLst/>
          </a:prstGeom>
          <a:solidFill>
            <a:srgbClr val="1E7E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991856" y="3621024"/>
            <a:ext cx="3566160" cy="274320"/>
          </a:xfrm>
          <a:prstGeom prst="rect">
            <a:avLst/>
          </a:prstGeom>
          <a:noFill/>
        </p:spPr>
        <p:txBody>
          <a:bodyPr wrap="square">
            <a:spAutoFit/>
          </a:bodyPr>
          <a:lstStyle/>
          <a:p>
            <a:pPr algn="l"/>
            <a:r>
              <a:rPr sz="1100" b="1" i="0">
                <a:solidFill>
                  <a:srgbClr val="FFFFFF"/>
                </a:solidFill>
              </a:rPr>
              <a:t>FairScope Resolution</a:t>
            </a:r>
          </a:p>
        </p:txBody>
      </p:sp>
      <p:sp>
        <p:nvSpPr>
          <p:cNvPr id="32" name="TextBox 31"/>
          <p:cNvSpPr txBox="1"/>
          <p:nvPr/>
        </p:nvSpPr>
        <p:spPr>
          <a:xfrm>
            <a:off x="7991856" y="3950208"/>
            <a:ext cx="3566160" cy="1508760"/>
          </a:xfrm>
          <a:prstGeom prst="rect">
            <a:avLst/>
          </a:prstGeom>
          <a:noFill/>
        </p:spPr>
        <p:txBody>
          <a:bodyPr wrap="square">
            <a:spAutoFit/>
          </a:bodyPr>
          <a:lstStyle/>
          <a:p>
            <a:pPr algn="l"/>
            <a:r>
              <a:rPr sz="1000" b="0" i="0">
                <a:solidFill>
                  <a:srgbClr val="333333"/>
                </a:solidFill>
              </a:rPr>
              <a:t>US and UK use entirely separate notice templates with separate validation rules. A UK notice that satisfies Reg B is not automatically approved for Consumer Duty.</a:t>
            </a:r>
          </a:p>
        </p:txBody>
      </p:sp>
      <p:sp>
        <p:nvSpPr>
          <p:cNvPr id="33" name="Rectangle 32"/>
          <p:cNvSpPr/>
          <p:nvPr/>
        </p:nvSpPr>
        <p:spPr>
          <a:xfrm>
            <a:off x="0" y="6583680"/>
            <a:ext cx="12188952" cy="2743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74320" y="6592824"/>
            <a:ext cx="11612880" cy="256032"/>
          </a:xfrm>
          <a:prstGeom prst="rect">
            <a:avLst/>
          </a:prstGeom>
          <a:noFill/>
        </p:spPr>
        <p:txBody>
          <a:bodyPr wrap="square">
            <a:spAutoFit/>
          </a:bodyPr>
          <a:lstStyle/>
          <a:p>
            <a:pPr algn="ctr"/>
            <a:r>
              <a:rPr sz="800" b="0" i="0">
                <a:solidFill>
                  <a:srgbClr val="D6E8F7"/>
                </a:solidFill>
              </a:rPr>
              <a:t>FairScope | MH6822 Assignment 1 | Anandan Eruchamma Bhuvaneswari | G2506438A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152"/>
            <a:ext cx="10972800" cy="548640"/>
          </a:xfrm>
          <a:prstGeom prst="rect">
            <a:avLst/>
          </a:prstGeom>
          <a:noFill/>
        </p:spPr>
        <p:txBody>
          <a:bodyPr wrap="square">
            <a:spAutoFit/>
          </a:bodyPr>
          <a:lstStyle/>
          <a:p>
            <a:pPr algn="l"/>
            <a:r>
              <a:rPr sz="2400" b="1" i="0">
                <a:solidFill>
                  <a:srgbClr val="FFFFFF"/>
                </a:solidFill>
              </a:rPr>
              <a:t>What FairScope Does Not Do — And Why We Are Telling You This</a:t>
            </a:r>
          </a:p>
        </p:txBody>
      </p:sp>
      <p:sp>
        <p:nvSpPr>
          <p:cNvPr id="4" name="TextBox 3"/>
          <p:cNvSpPr txBox="1"/>
          <p:nvPr/>
        </p:nvSpPr>
        <p:spPr>
          <a:xfrm>
            <a:off x="320040" y="621792"/>
            <a:ext cx="10972800" cy="347472"/>
          </a:xfrm>
          <a:prstGeom prst="rect">
            <a:avLst/>
          </a:prstGeom>
          <a:noFill/>
        </p:spPr>
        <p:txBody>
          <a:bodyPr wrap="square">
            <a:spAutoFit/>
          </a:bodyPr>
          <a:lstStyle/>
          <a:p>
            <a:pPr algn="l"/>
            <a:r>
              <a:rPr sz="1200" b="0" i="1">
                <a:solidFill>
                  <a:srgbClr val="D6E8F7"/>
                </a:solidFill>
              </a:rPr>
              <a:t>Honest scope boundaries. Not omissions we intend to fix immediately.</a:t>
            </a:r>
          </a:p>
        </p:txBody>
      </p:sp>
      <p:sp>
        <p:nvSpPr>
          <p:cNvPr id="5" name="Rectangle 4"/>
          <p:cNvSpPr/>
          <p:nvPr/>
        </p:nvSpPr>
        <p:spPr>
          <a:xfrm>
            <a:off x="274320" y="1143000"/>
            <a:ext cx="4032503" cy="420624"/>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9184" y="1197864"/>
            <a:ext cx="3941063" cy="329184"/>
          </a:xfrm>
          <a:prstGeom prst="rect">
            <a:avLst/>
          </a:prstGeom>
          <a:noFill/>
        </p:spPr>
        <p:txBody>
          <a:bodyPr wrap="square">
            <a:spAutoFit/>
          </a:bodyPr>
          <a:lstStyle/>
          <a:p>
            <a:pPr algn="ctr"/>
            <a:r>
              <a:rPr sz="1050" b="1" i="0">
                <a:solidFill>
                  <a:srgbClr val="FFFFFF"/>
                </a:solidFill>
              </a:rPr>
              <a:t>What it does not do</a:t>
            </a:r>
          </a:p>
        </p:txBody>
      </p:sp>
      <p:sp>
        <p:nvSpPr>
          <p:cNvPr id="7" name="Rectangle 6"/>
          <p:cNvSpPr/>
          <p:nvPr/>
        </p:nvSpPr>
        <p:spPr>
          <a:xfrm>
            <a:off x="4306823" y="1143000"/>
            <a:ext cx="7488936" cy="420624"/>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61687" y="1197864"/>
            <a:ext cx="7397496" cy="329184"/>
          </a:xfrm>
          <a:prstGeom prst="rect">
            <a:avLst/>
          </a:prstGeom>
          <a:noFill/>
        </p:spPr>
        <p:txBody>
          <a:bodyPr wrap="square">
            <a:spAutoFit/>
          </a:bodyPr>
          <a:lstStyle/>
          <a:p>
            <a:pPr algn="ctr"/>
            <a:r>
              <a:rPr sz="1050" b="1" i="0">
                <a:solidFill>
                  <a:srgbClr val="FFFFFF"/>
                </a:solidFill>
              </a:rPr>
              <a:t>Why we drew the line here</a:t>
            </a:r>
          </a:p>
        </p:txBody>
      </p:sp>
      <p:sp>
        <p:nvSpPr>
          <p:cNvPr id="9" name="Rectangle 8"/>
          <p:cNvSpPr/>
          <p:nvPr/>
        </p:nvSpPr>
        <p:spPr>
          <a:xfrm>
            <a:off x="274320" y="1563624"/>
            <a:ext cx="4032503" cy="51206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9184" y="1600200"/>
            <a:ext cx="3941063" cy="438912"/>
          </a:xfrm>
          <a:prstGeom prst="rect">
            <a:avLst/>
          </a:prstGeom>
          <a:noFill/>
        </p:spPr>
        <p:txBody>
          <a:bodyPr wrap="square">
            <a:spAutoFit/>
          </a:bodyPr>
          <a:lstStyle/>
          <a:p>
            <a:pPr algn="l"/>
            <a:r>
              <a:rPr sz="950" b="0" i="0">
                <a:solidFill>
                  <a:srgbClr val="333333"/>
                </a:solidFill>
              </a:rPr>
              <a:t>Make lending decisions</a:t>
            </a:r>
          </a:p>
        </p:txBody>
      </p:sp>
      <p:sp>
        <p:nvSpPr>
          <p:cNvPr id="11" name="Rectangle 10"/>
          <p:cNvSpPr/>
          <p:nvPr/>
        </p:nvSpPr>
        <p:spPr>
          <a:xfrm>
            <a:off x="4306823" y="1563624"/>
            <a:ext cx="7488936" cy="51206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61687" y="1600200"/>
            <a:ext cx="7397496" cy="438912"/>
          </a:xfrm>
          <a:prstGeom prst="rect">
            <a:avLst/>
          </a:prstGeom>
          <a:noFill/>
        </p:spPr>
        <p:txBody>
          <a:bodyPr wrap="square">
            <a:spAutoFit/>
          </a:bodyPr>
          <a:lstStyle/>
          <a:p>
            <a:pPr algn="l"/>
            <a:r>
              <a:rPr sz="950" b="0" i="0">
                <a:solidFill>
                  <a:srgbClr val="333333"/>
                </a:solidFill>
              </a:rPr>
              <a:t>Accountability requires human ownership of credit decisions. FairScope is a monitoring tool, not an underwriter.</a:t>
            </a:r>
          </a:p>
        </p:txBody>
      </p:sp>
      <p:sp>
        <p:nvSpPr>
          <p:cNvPr id="13" name="Rectangle 12"/>
          <p:cNvSpPr/>
          <p:nvPr/>
        </p:nvSpPr>
        <p:spPr>
          <a:xfrm>
            <a:off x="274320" y="2075688"/>
            <a:ext cx="4032503" cy="512064"/>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9184" y="2112264"/>
            <a:ext cx="3941063" cy="438912"/>
          </a:xfrm>
          <a:prstGeom prst="rect">
            <a:avLst/>
          </a:prstGeom>
          <a:noFill/>
        </p:spPr>
        <p:txBody>
          <a:bodyPr wrap="square">
            <a:spAutoFit/>
          </a:bodyPr>
          <a:lstStyle/>
          <a:p>
            <a:pPr algn="l"/>
            <a:r>
              <a:rPr sz="950" b="0" i="0">
                <a:solidFill>
                  <a:srgbClr val="333333"/>
                </a:solidFill>
              </a:rPr>
              <a:t>Infer race for UK applicants</a:t>
            </a:r>
          </a:p>
        </p:txBody>
      </p:sp>
      <p:sp>
        <p:nvSpPr>
          <p:cNvPr id="15" name="Rectangle 14"/>
          <p:cNvSpPr/>
          <p:nvPr/>
        </p:nvSpPr>
        <p:spPr>
          <a:xfrm>
            <a:off x="4306823" y="2075688"/>
            <a:ext cx="7488936" cy="512064"/>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61687" y="2112264"/>
            <a:ext cx="7397496" cy="438912"/>
          </a:xfrm>
          <a:prstGeom prst="rect">
            <a:avLst/>
          </a:prstGeom>
          <a:noFill/>
        </p:spPr>
        <p:txBody>
          <a:bodyPr wrap="square">
            <a:spAutoFit/>
          </a:bodyPr>
          <a:lstStyle/>
          <a:p>
            <a:pPr algn="l"/>
            <a:r>
              <a:rPr sz="950" b="0" i="0">
                <a:solidFill>
                  <a:srgbClr val="333333"/>
                </a:solidFill>
              </a:rPr>
              <a:t>Legal prohibition under UK GDPR Article 9. We will not find workarounds.</a:t>
            </a:r>
          </a:p>
        </p:txBody>
      </p:sp>
      <p:sp>
        <p:nvSpPr>
          <p:cNvPr id="17" name="Rectangle 16"/>
          <p:cNvSpPr/>
          <p:nvPr/>
        </p:nvSpPr>
        <p:spPr>
          <a:xfrm>
            <a:off x="274320" y="2587752"/>
            <a:ext cx="4032503" cy="51206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9184" y="2624328"/>
            <a:ext cx="3941063" cy="438912"/>
          </a:xfrm>
          <a:prstGeom prst="rect">
            <a:avLst/>
          </a:prstGeom>
          <a:noFill/>
        </p:spPr>
        <p:txBody>
          <a:bodyPr wrap="square">
            <a:spAutoFit/>
          </a:bodyPr>
          <a:lstStyle/>
          <a:p>
            <a:pPr algn="l"/>
            <a:r>
              <a:rPr sz="950" b="0" i="0">
                <a:solidFill>
                  <a:srgbClr val="333333"/>
                </a:solidFill>
              </a:rPr>
              <a:t>Cover US state-level fair lending laws</a:t>
            </a:r>
          </a:p>
        </p:txBody>
      </p:sp>
      <p:sp>
        <p:nvSpPr>
          <p:cNvPr id="19" name="Rectangle 18"/>
          <p:cNvSpPr/>
          <p:nvPr/>
        </p:nvSpPr>
        <p:spPr>
          <a:xfrm>
            <a:off x="4306823" y="2587752"/>
            <a:ext cx="7488936" cy="51206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61687" y="2624328"/>
            <a:ext cx="7397496" cy="438912"/>
          </a:xfrm>
          <a:prstGeom prst="rect">
            <a:avLst/>
          </a:prstGeom>
          <a:noFill/>
        </p:spPr>
        <p:txBody>
          <a:bodyPr wrap="square">
            <a:spAutoFit/>
          </a:bodyPr>
          <a:lstStyle/>
          <a:p>
            <a:pPr algn="l"/>
            <a:r>
              <a:rPr sz="950" b="0" i="0">
                <a:solidFill>
                  <a:srgbClr val="333333"/>
                </a:solidFill>
              </a:rPr>
              <a:t>50 state regimes require 50 additional config schemas. Phase 2 priority.</a:t>
            </a:r>
          </a:p>
        </p:txBody>
      </p:sp>
      <p:sp>
        <p:nvSpPr>
          <p:cNvPr id="21" name="Rectangle 20"/>
          <p:cNvSpPr/>
          <p:nvPr/>
        </p:nvSpPr>
        <p:spPr>
          <a:xfrm>
            <a:off x="274320" y="3099816"/>
            <a:ext cx="4032503" cy="512064"/>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9184" y="3136392"/>
            <a:ext cx="3941063" cy="438912"/>
          </a:xfrm>
          <a:prstGeom prst="rect">
            <a:avLst/>
          </a:prstGeom>
          <a:noFill/>
        </p:spPr>
        <p:txBody>
          <a:bodyPr wrap="square">
            <a:spAutoFit/>
          </a:bodyPr>
          <a:lstStyle/>
          <a:p>
            <a:pPr algn="l"/>
            <a:r>
              <a:rPr sz="950" b="0" i="0">
                <a:solidFill>
                  <a:srgbClr val="333333"/>
                </a:solidFill>
              </a:rPr>
              <a:t>Resolve UK non-response on self-declaration</a:t>
            </a:r>
          </a:p>
        </p:txBody>
      </p:sp>
      <p:sp>
        <p:nvSpPr>
          <p:cNvPr id="23" name="Rectangle 22"/>
          <p:cNvSpPr/>
          <p:nvPr/>
        </p:nvSpPr>
        <p:spPr>
          <a:xfrm>
            <a:off x="4306823" y="3099816"/>
            <a:ext cx="7488936" cy="512064"/>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61687" y="3136392"/>
            <a:ext cx="7397496" cy="438912"/>
          </a:xfrm>
          <a:prstGeom prst="rect">
            <a:avLst/>
          </a:prstGeom>
          <a:noFill/>
        </p:spPr>
        <p:txBody>
          <a:bodyPr wrap="square">
            <a:spAutoFit/>
          </a:bodyPr>
          <a:lstStyle/>
          <a:p>
            <a:pPr algn="l"/>
            <a:r>
              <a:rPr sz="950" b="0" i="0">
                <a:solidFill>
                  <a:srgbClr val="333333"/>
                </a:solidFill>
              </a:rPr>
              <a:t>~30% of UK applicants decline to state ethnicity. We report the rate. Imputing values would introduce indefensible assumptions.</a:t>
            </a:r>
          </a:p>
        </p:txBody>
      </p:sp>
      <p:sp>
        <p:nvSpPr>
          <p:cNvPr id="25" name="Rectangle 24"/>
          <p:cNvSpPr/>
          <p:nvPr/>
        </p:nvSpPr>
        <p:spPr>
          <a:xfrm>
            <a:off x="274320" y="3611880"/>
            <a:ext cx="4032503" cy="51206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9184" y="3648456"/>
            <a:ext cx="3941063" cy="438912"/>
          </a:xfrm>
          <a:prstGeom prst="rect">
            <a:avLst/>
          </a:prstGeom>
          <a:noFill/>
        </p:spPr>
        <p:txBody>
          <a:bodyPr wrap="square">
            <a:spAutoFit/>
          </a:bodyPr>
          <a:lstStyle/>
          <a:p>
            <a:pPr algn="l"/>
            <a:r>
              <a:rPr sz="950" b="0" i="0">
                <a:solidFill>
                  <a:srgbClr val="333333"/>
                </a:solidFill>
              </a:rPr>
              <a:t>Auto-submit regulatory filings</a:t>
            </a:r>
          </a:p>
        </p:txBody>
      </p:sp>
      <p:sp>
        <p:nvSpPr>
          <p:cNvPr id="27" name="Rectangle 26"/>
          <p:cNvSpPr/>
          <p:nvPr/>
        </p:nvSpPr>
        <p:spPr>
          <a:xfrm>
            <a:off x="4306823" y="3611880"/>
            <a:ext cx="7488936" cy="512064"/>
          </a:xfrm>
          <a:prstGeom prst="rect">
            <a:avLst/>
          </a:prstGeom>
          <a:solidFill>
            <a:srgbClr val="F4F7FB"/>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361687" y="3648456"/>
            <a:ext cx="7397496" cy="438912"/>
          </a:xfrm>
          <a:prstGeom prst="rect">
            <a:avLst/>
          </a:prstGeom>
          <a:noFill/>
        </p:spPr>
        <p:txBody>
          <a:bodyPr wrap="square">
            <a:spAutoFit/>
          </a:bodyPr>
          <a:lstStyle/>
          <a:p>
            <a:pPr algn="l"/>
            <a:r>
              <a:rPr sz="950" b="0" i="0">
                <a:solidFill>
                  <a:srgbClr val="333333"/>
                </a:solidFill>
              </a:rPr>
              <a:t>Human authorisation required for every submission. This is a feature, not a limitation.</a:t>
            </a:r>
          </a:p>
        </p:txBody>
      </p:sp>
      <p:sp>
        <p:nvSpPr>
          <p:cNvPr id="29" name="Rectangle 28"/>
          <p:cNvSpPr/>
          <p:nvPr/>
        </p:nvSpPr>
        <p:spPr>
          <a:xfrm>
            <a:off x="274320" y="5074920"/>
            <a:ext cx="11521440" cy="566928"/>
          </a:xfrm>
          <a:prstGeom prst="rect">
            <a:avLst/>
          </a:prstGeom>
          <a:solidFill>
            <a:srgbClr val="E8F5E9"/>
          </a:solidFill>
          <a:ln w="9525">
            <a:solidFill>
              <a:srgbClr val="1E7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5129784"/>
            <a:ext cx="11155680" cy="457200"/>
          </a:xfrm>
          <a:prstGeom prst="rect">
            <a:avLst/>
          </a:prstGeom>
          <a:noFill/>
        </p:spPr>
        <p:txBody>
          <a:bodyPr wrap="square">
            <a:spAutoFit/>
          </a:bodyPr>
          <a:lstStyle/>
          <a:p>
            <a:pPr algn="l"/>
            <a:r>
              <a:rPr sz="1050" b="0" i="0">
                <a:solidFill>
                  <a:srgbClr val="1E7E45"/>
                </a:solidFill>
              </a:rPr>
              <a:t>With more time / budget:  US state-level config extension  ·  HMDA industry benchmarking via CFPB API  ·  Plain-language adverse action reasons generated from SHAP values</a:t>
            </a:r>
          </a:p>
        </p:txBody>
      </p:sp>
      <p:sp>
        <p:nvSpPr>
          <p:cNvPr id="31" name="Rectangle 30"/>
          <p:cNvSpPr/>
          <p:nvPr/>
        </p:nvSpPr>
        <p:spPr>
          <a:xfrm>
            <a:off x="0" y="6583680"/>
            <a:ext cx="12188952" cy="2743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74320" y="6592824"/>
            <a:ext cx="11612880" cy="256032"/>
          </a:xfrm>
          <a:prstGeom prst="rect">
            <a:avLst/>
          </a:prstGeom>
          <a:noFill/>
        </p:spPr>
        <p:txBody>
          <a:bodyPr wrap="square">
            <a:spAutoFit/>
          </a:bodyPr>
          <a:lstStyle/>
          <a:p>
            <a:pPr algn="ctr"/>
            <a:r>
              <a:rPr sz="800" b="0" i="0">
                <a:solidFill>
                  <a:srgbClr val="D6E8F7"/>
                </a:solidFill>
              </a:rPr>
              <a:t>FairScope | MH6822 Assignment 1 | Anandan Eruchamma Bhuvaneswari | G2506438A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2B55"/>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A5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0"/>
            <a:ext cx="10515600" cy="914400"/>
          </a:xfrm>
          <a:prstGeom prst="rect">
            <a:avLst/>
          </a:prstGeom>
          <a:noFill/>
        </p:spPr>
        <p:txBody>
          <a:bodyPr wrap="square">
            <a:spAutoFit/>
          </a:bodyPr>
          <a:lstStyle/>
          <a:p>
            <a:pPr algn="l"/>
            <a:r>
              <a:rPr sz="3400" b="1" i="0">
                <a:solidFill>
                  <a:srgbClr val="FFFFFF"/>
                </a:solidFill>
              </a:rPr>
              <a:t>FairScope does not make HSBC fair.</a:t>
            </a:r>
          </a:p>
        </p:txBody>
      </p:sp>
      <p:sp>
        <p:nvSpPr>
          <p:cNvPr id="4" name="TextBox 3"/>
          <p:cNvSpPr txBox="1"/>
          <p:nvPr/>
        </p:nvSpPr>
        <p:spPr>
          <a:xfrm>
            <a:off x="548640" y="2331720"/>
            <a:ext cx="10515600" cy="457200"/>
          </a:xfrm>
          <a:prstGeom prst="rect">
            <a:avLst/>
          </a:prstGeom>
          <a:noFill/>
        </p:spPr>
        <p:txBody>
          <a:bodyPr wrap="square">
            <a:spAutoFit/>
          </a:bodyPr>
          <a:lstStyle/>
          <a:p>
            <a:pPr algn="l"/>
            <a:r>
              <a:rPr sz="2200" b="0" i="0">
                <a:solidFill>
                  <a:srgbClr val="D6E8F7"/>
                </a:solidFill>
              </a:rPr>
              <a:t>Fairness is a human commitment.</a:t>
            </a:r>
          </a:p>
        </p:txBody>
      </p:sp>
      <p:sp>
        <p:nvSpPr>
          <p:cNvPr id="5" name="Rectangle 4"/>
          <p:cNvSpPr/>
          <p:nvPr/>
        </p:nvSpPr>
        <p:spPr>
          <a:xfrm>
            <a:off x="548640" y="2880360"/>
            <a:ext cx="8229600" cy="25400"/>
          </a:xfrm>
          <a:prstGeom prst="rect">
            <a:avLst/>
          </a:prstGeom>
          <a:solidFill>
            <a:srgbClr val="1A5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3017520"/>
            <a:ext cx="10515600" cy="594360"/>
          </a:xfrm>
          <a:prstGeom prst="rect">
            <a:avLst/>
          </a:prstGeom>
          <a:noFill/>
        </p:spPr>
        <p:txBody>
          <a:bodyPr wrap="square">
            <a:spAutoFit/>
          </a:bodyPr>
          <a:lstStyle/>
          <a:p>
            <a:pPr algn="l"/>
            <a:r>
              <a:rPr sz="1800" b="0" i="0">
                <a:solidFill>
                  <a:srgbClr val="F4F7FB"/>
                </a:solidFill>
              </a:rPr>
              <a:t>What FairScope does is make it impossible to claim ignorance —</a:t>
            </a:r>
          </a:p>
        </p:txBody>
      </p:sp>
      <p:sp>
        <p:nvSpPr>
          <p:cNvPr id="7" name="TextBox 6"/>
          <p:cNvSpPr txBox="1"/>
          <p:nvPr/>
        </p:nvSpPr>
        <p:spPr>
          <a:xfrm>
            <a:off x="548640" y="3566160"/>
            <a:ext cx="10515600" cy="594360"/>
          </a:xfrm>
          <a:prstGeom prst="rect">
            <a:avLst/>
          </a:prstGeom>
          <a:noFill/>
        </p:spPr>
        <p:txBody>
          <a:bodyPr wrap="square">
            <a:spAutoFit/>
          </a:bodyPr>
          <a:lstStyle/>
          <a:p>
            <a:pPr algn="l"/>
            <a:r>
              <a:rPr sz="1800" b="0" i="0">
                <a:solidFill>
                  <a:srgbClr val="F4F7FB"/>
                </a:solidFill>
              </a:rPr>
              <a:t>about what standard applied, about what the data showed,</a:t>
            </a:r>
          </a:p>
        </p:txBody>
      </p:sp>
      <p:sp>
        <p:nvSpPr>
          <p:cNvPr id="8" name="TextBox 7"/>
          <p:cNvSpPr txBox="1"/>
          <p:nvPr/>
        </p:nvSpPr>
        <p:spPr>
          <a:xfrm>
            <a:off x="548640" y="4114800"/>
            <a:ext cx="10515600" cy="594360"/>
          </a:xfrm>
          <a:prstGeom prst="rect">
            <a:avLst/>
          </a:prstGeom>
          <a:noFill/>
        </p:spPr>
        <p:txBody>
          <a:bodyPr wrap="square">
            <a:spAutoFit/>
          </a:bodyPr>
          <a:lstStyle/>
          <a:p>
            <a:pPr algn="l"/>
            <a:r>
              <a:rPr sz="1800" b="0" i="0">
                <a:solidFill>
                  <a:srgbClr val="F4F7FB"/>
                </a:solidFill>
              </a:rPr>
              <a:t>and about whether anyone was watching.</a:t>
            </a:r>
          </a:p>
        </p:txBody>
      </p:sp>
      <p:sp>
        <p:nvSpPr>
          <p:cNvPr id="10" name="Rectangle 9"/>
          <p:cNvSpPr/>
          <p:nvPr/>
        </p:nvSpPr>
        <p:spPr>
          <a:xfrm>
            <a:off x="0" y="6583680"/>
            <a:ext cx="12188952" cy="2743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 y="6592824"/>
            <a:ext cx="11612880" cy="256032"/>
          </a:xfrm>
          <a:prstGeom prst="rect">
            <a:avLst/>
          </a:prstGeom>
          <a:noFill/>
        </p:spPr>
        <p:txBody>
          <a:bodyPr wrap="square">
            <a:spAutoFit/>
          </a:bodyPr>
          <a:lstStyle/>
          <a:p>
            <a:pPr algn="ctr"/>
            <a:r>
              <a:rPr sz="800" b="0" i="0">
                <a:solidFill>
                  <a:srgbClr val="D6E8F7"/>
                </a:solidFill>
              </a:rPr>
              <a:t>FairScope | MH6822 Assignment 1 | Anandan Eruchamma Bhuvaneswari | G2506438A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95</TotalTime>
  <Words>1244</Words>
  <Application>Microsoft Macintosh PowerPoint</Application>
  <PresentationFormat>Custom</PresentationFormat>
  <Paragraphs>127</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#ANANDAN ERUCHAMMA BHUVANESWARI#</cp:lastModifiedBy>
  <cp:revision>2</cp:revision>
  <dcterms:created xsi:type="dcterms:W3CDTF">2013-01-27T09:14:16Z</dcterms:created>
  <dcterms:modified xsi:type="dcterms:W3CDTF">2026-05-20T13:52:24Z</dcterms:modified>
  <cp:category/>
</cp:coreProperties>
</file>